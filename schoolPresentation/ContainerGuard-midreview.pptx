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84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865B-BC03-8645-61B7-A46DBDDC5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6E81-64AD-5FEE-5381-3EB69C48C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A8200-A8F7-6E94-C5E5-EEA7AAB3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64282-E62C-C2AA-AB44-CE34D77D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54EC0-FEB0-5AD0-762D-B0ECCF1C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2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08A0-BA70-E843-9603-EC81062B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9E8B-B94F-24B5-808C-239913B6F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0D1E3-2FD4-4719-4613-12A832CB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5503-8DDD-68D4-AF18-EDBE0F9A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F0CAD-CB93-633E-38D9-C3530845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9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48B9-CE0C-CD7E-A0BF-2E8D8A2B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A98AE-B13F-D061-F075-74FD2CD7B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D4EBD-9AA7-A08D-F29E-BC68FDBD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B37D6-6289-30C2-1A60-2B206D72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E4D47-A24E-B101-7C38-E25D3FBB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0D1C-AB93-5F53-8449-2B3570DC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E0A7-533D-13F7-F5CC-7EB808F61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1B0CC-65B8-F812-309F-B89C5863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54FD2-6A17-C52C-D952-B3ADF090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848C4-9E7C-B452-4631-4699C5CC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CADBB-E247-734B-C4AE-E0233C5B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5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57D3-93B9-D297-19A5-68970F32E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701C5-3547-3B41-A323-636ABAAE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83E23-F383-4A84-968F-40A0E5B2D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D2211-B0D2-FE99-3E87-8CC4BD490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3BA6A-393D-8BA9-A149-2C66818D0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34985-BD8D-473B-F5DD-6F5684C3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49814-26A7-8195-A55E-4603FE19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DB2D2-5C04-B273-E233-4BEDD5A2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8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CE51-EFB2-9FFF-215C-76CD9D9C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D3993-8E35-CD7F-ACA2-9A4A95A1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C6384-4950-2D3B-417A-D6789566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E6528-5504-57A0-6483-B05F8BF9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0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A78D9-5FA2-EBB4-0F38-D6EFC114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C8BB9-37B1-48C7-9BCE-70622819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26E3F-B600-A0AB-A424-E45A171A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0456-6EAD-440B-2063-3D84F551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C1B75-6783-D3CD-8403-1DB27B4DA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3C171-3148-EC5A-3E9E-66AD6B5A8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B5201-73E7-4F60-51B5-6057FF20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7AB20-04B7-56DA-F191-719DDFBC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FB37C-9260-E1DC-BC02-992DFC81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3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2687-5351-16C4-2313-76C981D5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B0D8E0-D743-71FC-C101-7D89314CC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81DA4-346C-2A88-4087-12BAAF167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9E6F-3CF8-4670-006C-7EDD1DC9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66049-88DD-AF49-829E-205F64D5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65965-4E07-F509-6348-8DDCAA2E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5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3F5-53F9-53A1-6D87-D3C8636A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A39E7-EA53-7D39-E739-A1E8E0A83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085CC-78EC-912C-F007-1BA06FDC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40DE3-2695-9F53-A270-4D2CBB9B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2EB06-2D59-A9CA-B730-B9D6748F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9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1D082-2346-2853-B6E0-DC8FC2DD7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83409-27DD-EE96-1991-854346E09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412AF-54BC-A2CD-6175-0F5C7E62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D27E-0272-C8E9-7193-1E677E39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95F8E-EC5D-5165-510E-DDD84B35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A5D18-6EA0-E7B1-67B6-B4AAB0E28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26F55-9DB5-645B-8E65-D6F2E7EDD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18560-FFAC-7958-F774-62BBBB3C4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CAD84-BE8C-4002-B051-DAAFDADC0AB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9BA62-6BA6-D5E4-7B57-0C1EDCE90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C20A4-A68C-757F-706D-9823D3C60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7D8CE-2446-42A7-BE50-FB824F2AE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5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jib-sen/containerguar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AF43-D474-E186-B2A9-988E82EFD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ContainerGuard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7299A-D7E8-D3A3-D46E-B688BA198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Jackson Saenz, Sanjib Sen, Ahsan Habib </a:t>
            </a:r>
          </a:p>
        </p:txBody>
      </p:sp>
    </p:spTree>
    <p:extLst>
      <p:ext uri="{BB962C8B-B14F-4D97-AF65-F5344CB8AC3E}">
        <p14:creationId xmlns:p14="http://schemas.microsoft.com/office/powerpoint/2010/main" val="21245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1865-33C7-BBB9-1E16-EE51E7DE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architecture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8643157-DC6E-9FF6-05AF-053CDF3BD01C}"/>
              </a:ext>
            </a:extLst>
          </p:cNvPr>
          <p:cNvSpPr/>
          <p:nvPr/>
        </p:nvSpPr>
        <p:spPr>
          <a:xfrm>
            <a:off x="1458125" y="2078355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97895-2A78-33C6-31C8-B68390641F1F}"/>
              </a:ext>
            </a:extLst>
          </p:cNvPr>
          <p:cNvSpPr txBox="1"/>
          <p:nvPr/>
        </p:nvSpPr>
        <p:spPr>
          <a:xfrm>
            <a:off x="1458125" y="2154555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1
Agent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E65B926-542A-D4E7-3581-9AF3476D6468}"/>
              </a:ext>
            </a:extLst>
          </p:cNvPr>
          <p:cNvSpPr/>
          <p:nvPr/>
        </p:nvSpPr>
        <p:spPr>
          <a:xfrm>
            <a:off x="3286925" y="2078355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F9BBA-D30E-7D54-7281-FAB352EB2FBA}"/>
              </a:ext>
            </a:extLst>
          </p:cNvPr>
          <p:cNvSpPr txBox="1"/>
          <p:nvPr/>
        </p:nvSpPr>
        <p:spPr>
          <a:xfrm>
            <a:off x="3286925" y="2154555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2
Agent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4B29B837-1A3C-0421-3C28-ED9FCFE8E0EF}"/>
              </a:ext>
            </a:extLst>
          </p:cNvPr>
          <p:cNvSpPr/>
          <p:nvPr/>
        </p:nvSpPr>
        <p:spPr>
          <a:xfrm>
            <a:off x="5115725" y="2078355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C398C-AF6C-B09B-8248-D33839A756B4}"/>
              </a:ext>
            </a:extLst>
          </p:cNvPr>
          <p:cNvSpPr txBox="1"/>
          <p:nvPr/>
        </p:nvSpPr>
        <p:spPr>
          <a:xfrm>
            <a:off x="5115725" y="2154555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3
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04A35-78CC-2416-29B6-3C2FE83D20E5}"/>
              </a:ext>
            </a:extLst>
          </p:cNvPr>
          <p:cNvSpPr txBox="1"/>
          <p:nvPr/>
        </p:nvSpPr>
        <p:spPr>
          <a:xfrm>
            <a:off x="6944525" y="2205355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>
                <a:solidFill>
                  <a:srgbClr val="6C6C80"/>
                </a:solidFill>
                <a:latin typeface="Calibri"/>
              </a:rPr>
              <a:t>. . .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69AEB703-5ADB-1283-2D45-55328BD731CA}"/>
              </a:ext>
            </a:extLst>
          </p:cNvPr>
          <p:cNvSpPr/>
          <p:nvPr/>
        </p:nvSpPr>
        <p:spPr>
          <a:xfrm>
            <a:off x="8773325" y="2078355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B4680D-4E3F-3834-C0D7-9E7AC52B53A3}"/>
              </a:ext>
            </a:extLst>
          </p:cNvPr>
          <p:cNvSpPr txBox="1"/>
          <p:nvPr/>
        </p:nvSpPr>
        <p:spPr>
          <a:xfrm>
            <a:off x="8773325" y="2154555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Container N
Agent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84306154-B089-C5E3-938A-AF3A3AE4442F}"/>
              </a:ext>
            </a:extLst>
          </p:cNvPr>
          <p:cNvSpPr/>
          <p:nvPr/>
        </p:nvSpPr>
        <p:spPr>
          <a:xfrm>
            <a:off x="1823885" y="3267075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F6BFA-C0FE-86A5-5E29-D80033E4590C}"/>
              </a:ext>
            </a:extLst>
          </p:cNvPr>
          <p:cNvSpPr txBox="1"/>
          <p:nvPr/>
        </p:nvSpPr>
        <p:spPr>
          <a:xfrm>
            <a:off x="1823885" y="3368675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400" b="1">
                <a:solidFill>
                  <a:srgbClr val="1E40AF"/>
                </a:solidFill>
                <a:latin typeface="Calibri"/>
              </a:rPr>
              <a:t>Central Server (FastAPI)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8A965860-DF47-9FE3-437F-9A5F050AE1B8}"/>
              </a:ext>
            </a:extLst>
          </p:cNvPr>
          <p:cNvSpPr/>
          <p:nvPr/>
        </p:nvSpPr>
        <p:spPr>
          <a:xfrm>
            <a:off x="2175929" y="3724275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0C442-3FBC-E72A-FF4A-35D7FAE2D18D}"/>
              </a:ext>
            </a:extLst>
          </p:cNvPr>
          <p:cNvSpPr txBox="1"/>
          <p:nvPr/>
        </p:nvSpPr>
        <p:spPr>
          <a:xfrm>
            <a:off x="2175929" y="3762375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Telemetry Collector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BA889E11-63C6-2944-A4AA-787D30EC436F}"/>
              </a:ext>
            </a:extLst>
          </p:cNvPr>
          <p:cNvSpPr/>
          <p:nvPr/>
        </p:nvSpPr>
        <p:spPr>
          <a:xfrm>
            <a:off x="3702977" y="3724275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466DC-F7FD-B312-F8F1-3F360A87C527}"/>
              </a:ext>
            </a:extLst>
          </p:cNvPr>
          <p:cNvSpPr txBox="1"/>
          <p:nvPr/>
        </p:nvSpPr>
        <p:spPr>
          <a:xfrm>
            <a:off x="3702977" y="3762375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Compliance Engine</a:t>
            </a: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9C12CF26-E54A-88D5-3293-65CB0390E518}"/>
              </a:ext>
            </a:extLst>
          </p:cNvPr>
          <p:cNvSpPr/>
          <p:nvPr/>
        </p:nvSpPr>
        <p:spPr>
          <a:xfrm>
            <a:off x="5230025" y="3724275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9BFDEE-EAE6-E4FF-0A9F-5733BF33BC9F}"/>
              </a:ext>
            </a:extLst>
          </p:cNvPr>
          <p:cNvSpPr txBox="1"/>
          <p:nvPr/>
        </p:nvSpPr>
        <p:spPr>
          <a:xfrm>
            <a:off x="5230025" y="3762375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Vuln Scanner (Trivy)</a:t>
            </a: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364BBC55-2EA1-4A3B-C323-030923D4F805}"/>
              </a:ext>
            </a:extLst>
          </p:cNvPr>
          <p:cNvSpPr/>
          <p:nvPr/>
        </p:nvSpPr>
        <p:spPr>
          <a:xfrm>
            <a:off x="6757073" y="3724275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157575-59B1-97C0-0516-4AD00AAC1224}"/>
              </a:ext>
            </a:extLst>
          </p:cNvPr>
          <p:cNvSpPr txBox="1"/>
          <p:nvPr/>
        </p:nvSpPr>
        <p:spPr>
          <a:xfrm>
            <a:off x="6757073" y="3762375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 dirty="0">
                <a:solidFill>
                  <a:srgbClr val="1E1E2E"/>
                </a:solidFill>
                <a:latin typeface="Calibri"/>
              </a:rPr>
              <a:t>Alert Manager</a:t>
            </a: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C65C4150-B208-7150-3319-192304B6D456}"/>
              </a:ext>
            </a:extLst>
          </p:cNvPr>
          <p:cNvSpPr/>
          <p:nvPr/>
        </p:nvSpPr>
        <p:spPr>
          <a:xfrm>
            <a:off x="8284121" y="3724275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8EC96-3E55-C035-FEC1-19E8512E2C45}"/>
              </a:ext>
            </a:extLst>
          </p:cNvPr>
          <p:cNvSpPr txBox="1"/>
          <p:nvPr/>
        </p:nvSpPr>
        <p:spPr>
          <a:xfrm>
            <a:off x="8284121" y="3762375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Metrics Exporter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9391E8-38C6-A950-A73C-A1434EC80642}"/>
              </a:ext>
            </a:extLst>
          </p:cNvPr>
          <p:cNvSpPr txBox="1"/>
          <p:nvPr/>
        </p:nvSpPr>
        <p:spPr>
          <a:xfrm>
            <a:off x="1823885" y="4272915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Internal event bus: Redis Pub/Sub</a:t>
            </a: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2C04CAAD-2885-0DDD-DBC6-FBD7B622718C}"/>
              </a:ext>
            </a:extLst>
          </p:cNvPr>
          <p:cNvSpPr/>
          <p:nvPr/>
        </p:nvSpPr>
        <p:spPr>
          <a:xfrm>
            <a:off x="2098205" y="4958715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358BC-38FB-099D-3B4F-BBBBBC40337D}"/>
              </a:ext>
            </a:extLst>
          </p:cNvPr>
          <p:cNvSpPr txBox="1"/>
          <p:nvPr/>
        </p:nvSpPr>
        <p:spPr>
          <a:xfrm>
            <a:off x="2098205" y="5009515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PostgreSQL
State &amp; Events</a:t>
            </a:r>
          </a:p>
        </p:txBody>
      </p:sp>
      <p:sp>
        <p:nvSpPr>
          <p:cNvPr id="28" name="Rounded Rectangle 29">
            <a:extLst>
              <a:ext uri="{FF2B5EF4-FFF2-40B4-BE49-F238E27FC236}">
                <a16:creationId xmlns:a16="http://schemas.microsoft.com/office/drawing/2014/main" id="{E9A82F2E-3C49-0FF9-E1F3-5868A791BC5B}"/>
              </a:ext>
            </a:extLst>
          </p:cNvPr>
          <p:cNvSpPr/>
          <p:nvPr/>
        </p:nvSpPr>
        <p:spPr>
          <a:xfrm>
            <a:off x="4109885" y="4958715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A82E73-4C80-E882-A6C0-CBB6E2014884}"/>
              </a:ext>
            </a:extLst>
          </p:cNvPr>
          <p:cNvSpPr txBox="1"/>
          <p:nvPr/>
        </p:nvSpPr>
        <p:spPr>
          <a:xfrm>
            <a:off x="4109885" y="5009515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Redis
Cache &amp; Pub/Sub</a:t>
            </a:r>
          </a:p>
        </p:txBody>
      </p: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6A3AE974-5273-BCA7-9DA8-FEDABB46470F}"/>
              </a:ext>
            </a:extLst>
          </p:cNvPr>
          <p:cNvSpPr/>
          <p:nvPr/>
        </p:nvSpPr>
        <p:spPr>
          <a:xfrm>
            <a:off x="6121565" y="4958715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96BC9E-2CB1-75FC-8843-4E13763AA6B4}"/>
              </a:ext>
            </a:extLst>
          </p:cNvPr>
          <p:cNvSpPr txBox="1"/>
          <p:nvPr/>
        </p:nvSpPr>
        <p:spPr>
          <a:xfrm>
            <a:off x="6121565" y="5009515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>
                <a:solidFill>
                  <a:srgbClr val="5B21B6"/>
                </a:solidFill>
                <a:latin typeface="Calibri"/>
              </a:rPr>
              <a:t>Prometheus
Time-series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22B4E9-C247-2BC6-D686-171478A1AA1E}"/>
              </a:ext>
            </a:extLst>
          </p:cNvPr>
          <p:cNvSpPr txBox="1"/>
          <p:nvPr/>
        </p:nvSpPr>
        <p:spPr>
          <a:xfrm>
            <a:off x="7813205" y="508571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>
                <a:solidFill>
                  <a:srgbClr val="6C6C80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4">
            <a:extLst>
              <a:ext uri="{FF2B5EF4-FFF2-40B4-BE49-F238E27FC236}">
                <a16:creationId xmlns:a16="http://schemas.microsoft.com/office/drawing/2014/main" id="{955ECFB8-C93B-4663-9FD8-1CE7397B50C3}"/>
              </a:ext>
            </a:extLst>
          </p:cNvPr>
          <p:cNvSpPr/>
          <p:nvPr/>
        </p:nvSpPr>
        <p:spPr>
          <a:xfrm>
            <a:off x="8133245" y="4958715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A12C31-FEE1-7FA9-1B8C-5B5FD1D8F853}"/>
              </a:ext>
            </a:extLst>
          </p:cNvPr>
          <p:cNvSpPr txBox="1"/>
          <p:nvPr/>
        </p:nvSpPr>
        <p:spPr>
          <a:xfrm>
            <a:off x="8133245" y="5009515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Grafana
Dashboards</a:t>
            </a:r>
          </a:p>
        </p:txBody>
      </p:sp>
      <p:sp>
        <p:nvSpPr>
          <p:cNvPr id="35" name="Rounded Rectangle 38">
            <a:extLst>
              <a:ext uri="{FF2B5EF4-FFF2-40B4-BE49-F238E27FC236}">
                <a16:creationId xmlns:a16="http://schemas.microsoft.com/office/drawing/2014/main" id="{BECB36A9-A761-4870-2DC2-83AA6AE89DDC}"/>
              </a:ext>
            </a:extLst>
          </p:cNvPr>
          <p:cNvSpPr/>
          <p:nvPr/>
        </p:nvSpPr>
        <p:spPr>
          <a:xfrm>
            <a:off x="3652685" y="5964555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025E71-0D82-E386-7E69-D94781F013C2}"/>
              </a:ext>
            </a:extLst>
          </p:cNvPr>
          <p:cNvSpPr txBox="1"/>
          <p:nvPr/>
        </p:nvSpPr>
        <p:spPr>
          <a:xfrm>
            <a:off x="3652685" y="6040755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200" b="1" dirty="0">
                <a:solidFill>
                  <a:srgbClr val="9A3412"/>
                </a:solidFill>
                <a:latin typeface="Calibri"/>
              </a:rPr>
              <a:t>Web Dashboard (React + TypeScript + Tailwind)</a:t>
            </a:r>
          </a:p>
        </p:txBody>
      </p:sp>
    </p:spTree>
    <p:extLst>
      <p:ext uri="{BB962C8B-B14F-4D97-AF65-F5344CB8AC3E}">
        <p14:creationId xmlns:p14="http://schemas.microsoft.com/office/powerpoint/2010/main" val="21496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E0BE-82FD-92D1-47E2-15B3693C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499" y="-240506"/>
            <a:ext cx="10515600" cy="1325563"/>
          </a:xfrm>
        </p:spPr>
        <p:txBody>
          <a:bodyPr/>
          <a:lstStyle/>
          <a:p>
            <a:r>
              <a:rPr lang="en-US" dirty="0"/>
              <a:t>Current architecture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3F7BDA7-8AD2-98F3-D660-E3BE1316CCFB}"/>
              </a:ext>
            </a:extLst>
          </p:cNvPr>
          <p:cNvSpPr/>
          <p:nvPr/>
        </p:nvSpPr>
        <p:spPr>
          <a:xfrm>
            <a:off x="1450918" y="864077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BEF27-E7C5-8DCA-0952-2A3A3FB49A68}"/>
              </a:ext>
            </a:extLst>
          </p:cNvPr>
          <p:cNvSpPr txBox="1"/>
          <p:nvPr/>
        </p:nvSpPr>
        <p:spPr>
          <a:xfrm>
            <a:off x="1450918" y="940277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1
Agent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0077F7C-4C1C-121E-106E-E84FEC6E70FB}"/>
              </a:ext>
            </a:extLst>
          </p:cNvPr>
          <p:cNvSpPr/>
          <p:nvPr/>
        </p:nvSpPr>
        <p:spPr>
          <a:xfrm>
            <a:off x="3279718" y="864077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FB183-2E55-CA13-B68F-E0F242BD77C1}"/>
              </a:ext>
            </a:extLst>
          </p:cNvPr>
          <p:cNvSpPr txBox="1"/>
          <p:nvPr/>
        </p:nvSpPr>
        <p:spPr>
          <a:xfrm>
            <a:off x="3279718" y="940277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2
Agent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6874B19E-ABE1-90BA-1822-E6D657BE4F4D}"/>
              </a:ext>
            </a:extLst>
          </p:cNvPr>
          <p:cNvSpPr/>
          <p:nvPr/>
        </p:nvSpPr>
        <p:spPr>
          <a:xfrm>
            <a:off x="5108518" y="864077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2B0B9-B9C4-938D-FF57-DD238F60468D}"/>
              </a:ext>
            </a:extLst>
          </p:cNvPr>
          <p:cNvSpPr txBox="1"/>
          <p:nvPr/>
        </p:nvSpPr>
        <p:spPr>
          <a:xfrm>
            <a:off x="5108518" y="940277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3
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96D09-C46A-5F49-7B4E-C86EBC523581}"/>
              </a:ext>
            </a:extLst>
          </p:cNvPr>
          <p:cNvSpPr txBox="1"/>
          <p:nvPr/>
        </p:nvSpPr>
        <p:spPr>
          <a:xfrm>
            <a:off x="6937318" y="991077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>
                <a:solidFill>
                  <a:srgbClr val="6C6C80"/>
                </a:solidFill>
                <a:latin typeface="Calibri"/>
              </a:rPr>
              <a:t>. . .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CFA65482-1C70-8FC5-BB48-5DFE8891F31A}"/>
              </a:ext>
            </a:extLst>
          </p:cNvPr>
          <p:cNvSpPr/>
          <p:nvPr/>
        </p:nvSpPr>
        <p:spPr>
          <a:xfrm>
            <a:off x="8766118" y="864077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7B790D-0E33-E27A-B870-38FFDCC71841}"/>
              </a:ext>
            </a:extLst>
          </p:cNvPr>
          <p:cNvSpPr txBox="1"/>
          <p:nvPr/>
        </p:nvSpPr>
        <p:spPr>
          <a:xfrm>
            <a:off x="8766118" y="940277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Container N
Agent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CB3B92B7-2196-62C8-9CF1-CB425A21236B}"/>
              </a:ext>
            </a:extLst>
          </p:cNvPr>
          <p:cNvSpPr/>
          <p:nvPr/>
        </p:nvSpPr>
        <p:spPr>
          <a:xfrm>
            <a:off x="4353340" y="1759752"/>
            <a:ext cx="2624136" cy="1075147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354C73-79E6-ECCE-A109-7E1E26D71E2C}"/>
              </a:ext>
            </a:extLst>
          </p:cNvPr>
          <p:cNvSpPr txBox="1"/>
          <p:nvPr/>
        </p:nvSpPr>
        <p:spPr>
          <a:xfrm>
            <a:off x="1593378" y="1806338"/>
            <a:ext cx="8186829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400" b="1" dirty="0">
                <a:solidFill>
                  <a:srgbClr val="1E40AF"/>
                </a:solidFill>
                <a:latin typeface="Calibri"/>
              </a:rPr>
              <a:t>Central Server (</a:t>
            </a:r>
            <a:r>
              <a:rPr sz="1400" b="1" dirty="0" err="1">
                <a:solidFill>
                  <a:srgbClr val="1E40AF"/>
                </a:solidFill>
                <a:latin typeface="Calibri"/>
              </a:rPr>
              <a:t>FastAPI</a:t>
            </a:r>
            <a:r>
              <a:rPr lang="en-US" sz="1400" b="1" dirty="0">
                <a:solidFill>
                  <a:srgbClr val="1E40AF"/>
                </a:solidFill>
                <a:latin typeface="Calibri"/>
              </a:rPr>
              <a:t> </a:t>
            </a:r>
            <a:r>
              <a:rPr lang="en-US" sz="1400" b="1" dirty="0" err="1">
                <a:solidFill>
                  <a:srgbClr val="1E40AF"/>
                </a:solidFill>
                <a:latin typeface="Calibri"/>
              </a:rPr>
              <a:t>Gunicorn</a:t>
            </a:r>
            <a:r>
              <a:rPr sz="1400" b="1" dirty="0">
                <a:solidFill>
                  <a:srgbClr val="1E40AF"/>
                </a:solidFill>
                <a:latin typeface="Calibri"/>
              </a:rPr>
              <a:t>)</a:t>
            </a:r>
            <a:r>
              <a:rPr lang="en-US" sz="1400" b="1" dirty="0">
                <a:solidFill>
                  <a:srgbClr val="1E40AF"/>
                </a:solidFill>
                <a:latin typeface="Calibri"/>
              </a:rPr>
              <a:t> </a:t>
            </a:r>
            <a:endParaRPr sz="1400" b="1" dirty="0">
              <a:solidFill>
                <a:srgbClr val="1E40AF"/>
              </a:solidFill>
              <a:latin typeface="Calibri"/>
            </a:endParaRP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80FF3B4B-1A71-20ED-986F-8AC23AD52D07}"/>
              </a:ext>
            </a:extLst>
          </p:cNvPr>
          <p:cNvSpPr/>
          <p:nvPr/>
        </p:nvSpPr>
        <p:spPr>
          <a:xfrm>
            <a:off x="4908724" y="2135672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CDED11-B8EE-BB6F-2831-266DE7FD1F4C}"/>
              </a:ext>
            </a:extLst>
          </p:cNvPr>
          <p:cNvSpPr txBox="1"/>
          <p:nvPr/>
        </p:nvSpPr>
        <p:spPr>
          <a:xfrm>
            <a:off x="4908724" y="2199464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 dirty="0">
                <a:solidFill>
                  <a:srgbClr val="1E1E2E"/>
                </a:solidFill>
                <a:latin typeface="Calibri"/>
              </a:rPr>
              <a:t>Metrics Exporter</a:t>
            </a:r>
          </a:p>
        </p:txBody>
      </p:sp>
      <p:sp>
        <p:nvSpPr>
          <p:cNvPr id="35" name="Rounded Rectangle 38">
            <a:extLst>
              <a:ext uri="{FF2B5EF4-FFF2-40B4-BE49-F238E27FC236}">
                <a16:creationId xmlns:a16="http://schemas.microsoft.com/office/drawing/2014/main" id="{F0C4E588-C6C7-E02F-B8C7-5EEF33531EDA}"/>
              </a:ext>
            </a:extLst>
          </p:cNvPr>
          <p:cNvSpPr/>
          <p:nvPr/>
        </p:nvSpPr>
        <p:spPr>
          <a:xfrm>
            <a:off x="3379408" y="5239926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36F29-83E5-B1AB-2EE4-14037604A7FE}"/>
              </a:ext>
            </a:extLst>
          </p:cNvPr>
          <p:cNvSpPr txBox="1"/>
          <p:nvPr/>
        </p:nvSpPr>
        <p:spPr>
          <a:xfrm>
            <a:off x="3379408" y="5316126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200" b="1" dirty="0">
                <a:solidFill>
                  <a:srgbClr val="9A3412"/>
                </a:solidFill>
                <a:latin typeface="Calibri"/>
              </a:rPr>
              <a:t>Web Dashboard (React + TypeScript + Tailwind)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363BEE-8C71-8C2E-F0EC-BA5561BC921F}"/>
              </a:ext>
            </a:extLst>
          </p:cNvPr>
          <p:cNvSpPr txBox="1"/>
          <p:nvPr/>
        </p:nvSpPr>
        <p:spPr>
          <a:xfrm>
            <a:off x="0" y="4727610"/>
            <a:ext cx="961614" cy="2545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/>
          <a:lstStyle/>
          <a:p>
            <a:pPr algn="ctr"/>
            <a:r>
              <a:rPr lang="en-US" sz="900" b="0" dirty="0">
                <a:solidFill>
                  <a:srgbClr val="1E1E2E"/>
                </a:solidFill>
                <a:latin typeface="Calibri"/>
              </a:rPr>
              <a:t>Heartbeat Monitor</a:t>
            </a:r>
            <a:endParaRPr sz="900" b="0" dirty="0">
              <a:solidFill>
                <a:srgbClr val="1E1E2E"/>
              </a:solidFill>
              <a:latin typeface="Calibri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EEDCAD-A817-A675-4D14-A517E1B15E7B}"/>
              </a:ext>
            </a:extLst>
          </p:cNvPr>
          <p:cNvCxnSpPr>
            <a:cxnSpLocks/>
          </p:cNvCxnSpPr>
          <p:nvPr/>
        </p:nvCxnSpPr>
        <p:spPr>
          <a:xfrm>
            <a:off x="964392" y="4844303"/>
            <a:ext cx="3520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ylinder 40">
            <a:extLst>
              <a:ext uri="{FF2B5EF4-FFF2-40B4-BE49-F238E27FC236}">
                <a16:creationId xmlns:a16="http://schemas.microsoft.com/office/drawing/2014/main" id="{996E827F-2A50-2148-E980-AE09F64E96B4}"/>
              </a:ext>
            </a:extLst>
          </p:cNvPr>
          <p:cNvSpPr/>
          <p:nvPr/>
        </p:nvSpPr>
        <p:spPr>
          <a:xfrm>
            <a:off x="1140451" y="4446636"/>
            <a:ext cx="1296725" cy="13216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CCFD4D-B0D5-A2EE-1CC4-4FBF759F4F31}"/>
              </a:ext>
            </a:extLst>
          </p:cNvPr>
          <p:cNvSpPr txBox="1"/>
          <p:nvPr/>
        </p:nvSpPr>
        <p:spPr>
          <a:xfrm>
            <a:off x="979170" y="4963066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PostgreSQL
State &amp; Events</a:t>
            </a:r>
          </a:p>
        </p:txBody>
      </p:sp>
      <p:sp>
        <p:nvSpPr>
          <p:cNvPr id="42" name="Rounded Rectangle 13">
            <a:extLst>
              <a:ext uri="{FF2B5EF4-FFF2-40B4-BE49-F238E27FC236}">
                <a16:creationId xmlns:a16="http://schemas.microsoft.com/office/drawing/2014/main" id="{5CE77CC0-77EB-3980-D822-DAA06C3B1728}"/>
              </a:ext>
            </a:extLst>
          </p:cNvPr>
          <p:cNvSpPr/>
          <p:nvPr/>
        </p:nvSpPr>
        <p:spPr>
          <a:xfrm>
            <a:off x="1346660" y="3258352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0" name="Rounded Rectangle 13">
            <a:extLst>
              <a:ext uri="{FF2B5EF4-FFF2-40B4-BE49-F238E27FC236}">
                <a16:creationId xmlns:a16="http://schemas.microsoft.com/office/drawing/2014/main" id="{C178FC53-8CEC-6DF5-9586-A031D931BFA9}"/>
              </a:ext>
            </a:extLst>
          </p:cNvPr>
          <p:cNvSpPr/>
          <p:nvPr/>
        </p:nvSpPr>
        <p:spPr>
          <a:xfrm>
            <a:off x="2425284" y="3258352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1" name="Rounded Rectangle 13">
            <a:extLst>
              <a:ext uri="{FF2B5EF4-FFF2-40B4-BE49-F238E27FC236}">
                <a16:creationId xmlns:a16="http://schemas.microsoft.com/office/drawing/2014/main" id="{D02DCE80-7498-2B71-BC01-DB658D792FA0}"/>
              </a:ext>
            </a:extLst>
          </p:cNvPr>
          <p:cNvSpPr/>
          <p:nvPr/>
        </p:nvSpPr>
        <p:spPr>
          <a:xfrm>
            <a:off x="3466552" y="3289201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8B530AD5-A5C1-8354-B191-75797FA9D815}"/>
              </a:ext>
            </a:extLst>
          </p:cNvPr>
          <p:cNvSpPr/>
          <p:nvPr/>
        </p:nvSpPr>
        <p:spPr>
          <a:xfrm>
            <a:off x="4545176" y="3289201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3" name="Rounded Rectangle 13">
            <a:extLst>
              <a:ext uri="{FF2B5EF4-FFF2-40B4-BE49-F238E27FC236}">
                <a16:creationId xmlns:a16="http://schemas.microsoft.com/office/drawing/2014/main" id="{D91EADA7-1C58-FBE9-3F5C-0B58E4A283CD}"/>
              </a:ext>
            </a:extLst>
          </p:cNvPr>
          <p:cNvSpPr/>
          <p:nvPr/>
        </p:nvSpPr>
        <p:spPr>
          <a:xfrm>
            <a:off x="5611324" y="3289201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4" name="Rounded Rectangle 13">
            <a:extLst>
              <a:ext uri="{FF2B5EF4-FFF2-40B4-BE49-F238E27FC236}">
                <a16:creationId xmlns:a16="http://schemas.microsoft.com/office/drawing/2014/main" id="{2663D5F5-4376-97CB-27C8-60DE27A69ADE}"/>
              </a:ext>
            </a:extLst>
          </p:cNvPr>
          <p:cNvSpPr/>
          <p:nvPr/>
        </p:nvSpPr>
        <p:spPr>
          <a:xfrm>
            <a:off x="6689948" y="3289201"/>
            <a:ext cx="891964" cy="758259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Uvicorn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fastapi</a:t>
            </a:r>
            <a:endParaRPr sz="1600" dirty="0">
              <a:solidFill>
                <a:schemeClr val="tx1"/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41D9A58-D633-C5E6-CE4A-AE60EA951387}"/>
              </a:ext>
            </a:extLst>
          </p:cNvPr>
          <p:cNvCxnSpPr>
            <a:cxnSpLocks/>
            <a:stCxn id="4" idx="2"/>
            <a:endCxn id="13" idx="1"/>
          </p:cNvCxnSpPr>
          <p:nvPr/>
        </p:nvCxnSpPr>
        <p:spPr>
          <a:xfrm rot="16200000" flipH="1">
            <a:off x="2917025" y="861010"/>
            <a:ext cx="793169" cy="20794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9E591F-88EE-5113-781F-334B7A5CDA04}"/>
              </a:ext>
            </a:extLst>
          </p:cNvPr>
          <p:cNvSpPr txBox="1"/>
          <p:nvPr/>
        </p:nvSpPr>
        <p:spPr>
          <a:xfrm>
            <a:off x="2542074" y="2040772"/>
            <a:ext cx="115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Telemetry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2C9DCAE-CCE1-C908-9075-2123DE063FE9}"/>
              </a:ext>
            </a:extLst>
          </p:cNvPr>
          <p:cNvSpPr/>
          <p:nvPr/>
        </p:nvSpPr>
        <p:spPr>
          <a:xfrm>
            <a:off x="979170" y="1631157"/>
            <a:ext cx="9460230" cy="2712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319B27-4128-B04E-FB55-FCA8F03E0CC4}"/>
              </a:ext>
            </a:extLst>
          </p:cNvPr>
          <p:cNvSpPr/>
          <p:nvPr/>
        </p:nvSpPr>
        <p:spPr>
          <a:xfrm>
            <a:off x="4353340" y="4446636"/>
            <a:ext cx="2624136" cy="521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websocket</a:t>
            </a:r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D9D0B1-0576-99AE-5CC0-A46BB03AD253}"/>
              </a:ext>
            </a:extLst>
          </p:cNvPr>
          <p:cNvCxnSpPr>
            <a:cxnSpLocks/>
            <a:stCxn id="13" idx="2"/>
            <a:endCxn id="42" idx="0"/>
          </p:cNvCxnSpPr>
          <p:nvPr/>
        </p:nvCxnSpPr>
        <p:spPr>
          <a:xfrm flipH="1">
            <a:off x="1792642" y="2834899"/>
            <a:ext cx="3872766" cy="423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A12C02-0602-A9AA-63EB-66264A8491CE}"/>
              </a:ext>
            </a:extLst>
          </p:cNvPr>
          <p:cNvCxnSpPr>
            <a:cxnSpLocks/>
            <a:stCxn id="13" idx="2"/>
            <a:endCxn id="50" idx="0"/>
          </p:cNvCxnSpPr>
          <p:nvPr/>
        </p:nvCxnSpPr>
        <p:spPr>
          <a:xfrm flipH="1">
            <a:off x="2871266" y="2834899"/>
            <a:ext cx="2794142" cy="423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79D6931-102A-269B-17A5-D52E1C84E898}"/>
              </a:ext>
            </a:extLst>
          </p:cNvPr>
          <p:cNvCxnSpPr>
            <a:cxnSpLocks/>
            <a:stCxn id="13" idx="2"/>
            <a:endCxn id="51" idx="0"/>
          </p:cNvCxnSpPr>
          <p:nvPr/>
        </p:nvCxnSpPr>
        <p:spPr>
          <a:xfrm flipH="1">
            <a:off x="3912534" y="2834899"/>
            <a:ext cx="1752874" cy="454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2D27672-A732-3541-8D80-A9ECB96CD65D}"/>
              </a:ext>
            </a:extLst>
          </p:cNvPr>
          <p:cNvCxnSpPr>
            <a:cxnSpLocks/>
            <a:stCxn id="13" idx="2"/>
            <a:endCxn id="52" idx="0"/>
          </p:cNvCxnSpPr>
          <p:nvPr/>
        </p:nvCxnSpPr>
        <p:spPr>
          <a:xfrm flipH="1">
            <a:off x="4991158" y="2834899"/>
            <a:ext cx="674250" cy="454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745FF3-FC3D-6145-4E25-C3C17028CF69}"/>
              </a:ext>
            </a:extLst>
          </p:cNvPr>
          <p:cNvCxnSpPr>
            <a:cxnSpLocks/>
            <a:stCxn id="13" idx="2"/>
            <a:endCxn id="53" idx="0"/>
          </p:cNvCxnSpPr>
          <p:nvPr/>
        </p:nvCxnSpPr>
        <p:spPr>
          <a:xfrm>
            <a:off x="5665408" y="2834899"/>
            <a:ext cx="391898" cy="454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C81501E-99A5-A0D8-FFE3-F2EFC913378C}"/>
              </a:ext>
            </a:extLst>
          </p:cNvPr>
          <p:cNvCxnSpPr>
            <a:cxnSpLocks/>
            <a:stCxn id="13" idx="2"/>
            <a:endCxn id="54" idx="0"/>
          </p:cNvCxnSpPr>
          <p:nvPr/>
        </p:nvCxnSpPr>
        <p:spPr>
          <a:xfrm>
            <a:off x="5665408" y="2834899"/>
            <a:ext cx="1470522" cy="454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66ACA97-18EF-B8DE-E9EC-969C2E7FF2CF}"/>
              </a:ext>
            </a:extLst>
          </p:cNvPr>
          <p:cNvSpPr/>
          <p:nvPr/>
        </p:nvSpPr>
        <p:spPr>
          <a:xfrm>
            <a:off x="9227926" y="2922984"/>
            <a:ext cx="956310" cy="543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Prometheus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7CDCBDF-9B78-494A-2150-9C97F7BF5D64}"/>
              </a:ext>
            </a:extLst>
          </p:cNvPr>
          <p:cNvSpPr/>
          <p:nvPr/>
        </p:nvSpPr>
        <p:spPr>
          <a:xfrm>
            <a:off x="8105083" y="2922984"/>
            <a:ext cx="956310" cy="543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Loki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8F2D990-DA5F-7427-857B-D5B1DC233876}"/>
              </a:ext>
            </a:extLst>
          </p:cNvPr>
          <p:cNvCxnSpPr>
            <a:cxnSpLocks/>
            <a:stCxn id="13" idx="3"/>
            <a:endCxn id="76" idx="0"/>
          </p:cNvCxnSpPr>
          <p:nvPr/>
        </p:nvCxnSpPr>
        <p:spPr>
          <a:xfrm>
            <a:off x="6977476" y="2297326"/>
            <a:ext cx="2728605" cy="625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9EA6145-12AB-2158-0C6E-C93F52D9B31C}"/>
              </a:ext>
            </a:extLst>
          </p:cNvPr>
          <p:cNvCxnSpPr>
            <a:endCxn id="77" idx="0"/>
          </p:cNvCxnSpPr>
          <p:nvPr/>
        </p:nvCxnSpPr>
        <p:spPr>
          <a:xfrm>
            <a:off x="6977476" y="2586990"/>
            <a:ext cx="1605762" cy="3359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0F0800E6-9040-0362-8A2F-00D0D4F1A2F8}"/>
              </a:ext>
            </a:extLst>
          </p:cNvPr>
          <p:cNvSpPr/>
          <p:nvPr/>
        </p:nvSpPr>
        <p:spPr>
          <a:xfrm>
            <a:off x="8738278" y="4470913"/>
            <a:ext cx="956310" cy="543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Grafana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0D7E0E6A-F793-25A4-FAC1-D0CFA560CE79}"/>
              </a:ext>
            </a:extLst>
          </p:cNvPr>
          <p:cNvCxnSpPr>
            <a:stCxn id="77" idx="2"/>
            <a:endCxn id="88" idx="0"/>
          </p:cNvCxnSpPr>
          <p:nvPr/>
        </p:nvCxnSpPr>
        <p:spPr>
          <a:xfrm rot="16200000" flipH="1">
            <a:off x="8397739" y="3652218"/>
            <a:ext cx="1004193" cy="6331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9A3EB747-DC17-6D21-6A12-DE4FFAFC87A3}"/>
              </a:ext>
            </a:extLst>
          </p:cNvPr>
          <p:cNvCxnSpPr>
            <a:stCxn id="76" idx="2"/>
            <a:endCxn id="88" idx="0"/>
          </p:cNvCxnSpPr>
          <p:nvPr/>
        </p:nvCxnSpPr>
        <p:spPr>
          <a:xfrm rot="5400000">
            <a:off x="8959161" y="3723992"/>
            <a:ext cx="1004193" cy="4896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521CB2E-498F-B610-1D5D-370A8C44FCEF}"/>
              </a:ext>
            </a:extLst>
          </p:cNvPr>
          <p:cNvCxnSpPr>
            <a:stCxn id="42" idx="2"/>
            <a:endCxn id="61" idx="0"/>
          </p:cNvCxnSpPr>
          <p:nvPr/>
        </p:nvCxnSpPr>
        <p:spPr>
          <a:xfrm rot="16200000" flipH="1">
            <a:off x="3514013" y="2295240"/>
            <a:ext cx="430025" cy="38727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BB28FAB3-9E60-FFA7-9EA7-E27B78147339}"/>
              </a:ext>
            </a:extLst>
          </p:cNvPr>
          <p:cNvCxnSpPr>
            <a:stCxn id="50" idx="2"/>
            <a:endCxn id="61" idx="0"/>
          </p:cNvCxnSpPr>
          <p:nvPr/>
        </p:nvCxnSpPr>
        <p:spPr>
          <a:xfrm rot="16200000" flipH="1">
            <a:off x="4053325" y="2834552"/>
            <a:ext cx="430025" cy="27941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0D3D3E57-F3AF-D5FC-B8C4-88A35FC2AB96}"/>
              </a:ext>
            </a:extLst>
          </p:cNvPr>
          <p:cNvCxnSpPr>
            <a:stCxn id="51" idx="2"/>
            <a:endCxn id="61" idx="0"/>
          </p:cNvCxnSpPr>
          <p:nvPr/>
        </p:nvCxnSpPr>
        <p:spPr>
          <a:xfrm rot="16200000" flipH="1">
            <a:off x="4589383" y="3370611"/>
            <a:ext cx="399176" cy="17528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68E8C74-E3A2-D320-9ED7-9D46026606A8}"/>
              </a:ext>
            </a:extLst>
          </p:cNvPr>
          <p:cNvCxnSpPr>
            <a:stCxn id="52" idx="2"/>
            <a:endCxn id="61" idx="0"/>
          </p:cNvCxnSpPr>
          <p:nvPr/>
        </p:nvCxnSpPr>
        <p:spPr>
          <a:xfrm rot="16200000" flipH="1">
            <a:off x="5128695" y="3909923"/>
            <a:ext cx="399176" cy="6742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3351AAB8-764A-0806-578F-E1065500B25A}"/>
              </a:ext>
            </a:extLst>
          </p:cNvPr>
          <p:cNvCxnSpPr>
            <a:stCxn id="53" idx="2"/>
            <a:endCxn id="61" idx="0"/>
          </p:cNvCxnSpPr>
          <p:nvPr/>
        </p:nvCxnSpPr>
        <p:spPr>
          <a:xfrm rot="5400000">
            <a:off x="5661769" y="4051099"/>
            <a:ext cx="399176" cy="3918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D3230A6-96B1-912B-C587-3EC49226C390}"/>
              </a:ext>
            </a:extLst>
          </p:cNvPr>
          <p:cNvCxnSpPr>
            <a:stCxn id="54" idx="2"/>
            <a:endCxn id="61" idx="0"/>
          </p:cNvCxnSpPr>
          <p:nvPr/>
        </p:nvCxnSpPr>
        <p:spPr>
          <a:xfrm rot="5400000">
            <a:off x="6201081" y="3511787"/>
            <a:ext cx="399176" cy="14705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94376F9-4EFD-9A91-947C-361B46FABC16}"/>
              </a:ext>
            </a:extLst>
          </p:cNvPr>
          <p:cNvCxnSpPr>
            <a:stCxn id="61" idx="2"/>
            <a:endCxn id="35" idx="0"/>
          </p:cNvCxnSpPr>
          <p:nvPr/>
        </p:nvCxnSpPr>
        <p:spPr>
          <a:xfrm>
            <a:off x="5665408" y="4968146"/>
            <a:ext cx="0" cy="271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C0B6C9C-9831-76EC-701B-65BCBA89CC2D}"/>
              </a:ext>
            </a:extLst>
          </p:cNvPr>
          <p:cNvCxnSpPr>
            <a:stCxn id="42" idx="2"/>
            <a:endCxn id="41" idx="1"/>
          </p:cNvCxnSpPr>
          <p:nvPr/>
        </p:nvCxnSpPr>
        <p:spPr>
          <a:xfrm flipH="1">
            <a:off x="1788814" y="4016611"/>
            <a:ext cx="3828" cy="43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77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ircuit board">
            <a:extLst>
              <a:ext uri="{FF2B5EF4-FFF2-40B4-BE49-F238E27FC236}">
                <a16:creationId xmlns:a16="http://schemas.microsoft.com/office/drawing/2014/main" id="{CD1760A9-5E7C-360F-3E39-62844A30C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0851" y="-603250"/>
            <a:ext cx="12696825" cy="8464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95C859-DF1E-BD79-3A64-B18E1491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995"/>
            <a:ext cx="10515600" cy="1325563"/>
          </a:xfrm>
          <a:gradFill>
            <a:gsLst>
              <a:gs pos="0">
                <a:schemeClr val="accent1">
                  <a:lumMod val="5000"/>
                  <a:lumOff val="95000"/>
                  <a:alpha val="26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  <a:alpha val="99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CEBC97-BEFB-7D2F-15BA-F1B5DDBF95C7}"/>
              </a:ext>
            </a:extLst>
          </p:cNvPr>
          <p:cNvSpPr txBox="1">
            <a:spLocks/>
          </p:cNvSpPr>
          <p:nvPr/>
        </p:nvSpPr>
        <p:spPr>
          <a:xfrm>
            <a:off x="4930775" y="6035515"/>
            <a:ext cx="2330450" cy="1325563"/>
          </a:xfrm>
          <a:prstGeom prst="rect">
            <a:avLst/>
          </a:prstGeom>
          <a:gradFill flip="none" rotWithShape="1">
            <a:gsLst>
              <a:gs pos="14000">
                <a:schemeClr val="accent2">
                  <a:lumMod val="40000"/>
                  <a:lumOff val="60000"/>
                  <a:alpha val="9000"/>
                </a:schemeClr>
              </a:gs>
              <a:gs pos="100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>
                <a:solidFill>
                  <a:schemeClr val="bg1"/>
                </a:solidFill>
                <a:hlinkClick r:id="rId3"/>
              </a:rPr>
              <a:t>Github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2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149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ContainerGuard</vt:lpstr>
      <vt:lpstr>Proposed architecture</vt:lpstr>
      <vt:lpstr>Current architecture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Saenz, Jackson</dc:creator>
  <cp:lastModifiedBy>Saenz, Jackson</cp:lastModifiedBy>
  <cp:revision>2</cp:revision>
  <dcterms:created xsi:type="dcterms:W3CDTF">2026-03-31T13:59:18Z</dcterms:created>
  <dcterms:modified xsi:type="dcterms:W3CDTF">2026-03-31T17:48:14Z</dcterms:modified>
</cp:coreProperties>
</file>