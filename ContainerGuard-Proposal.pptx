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94"/>
  </p:normalViewPr>
  <p:slideViewPr>
    <p:cSldViewPr snapToGrid="0" snapToObjects="1">
      <p:cViewPr>
        <p:scale>
          <a:sx n="101" d="100"/>
          <a:sy n="101" d="100"/>
        </p:scale>
        <p:origin x="1192" y="6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28016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5400" b="1">
                <a:solidFill>
                  <a:srgbClr val="1E1E2E"/>
                </a:solidFill>
                <a:latin typeface="Calibri"/>
              </a:rPr>
              <a:t>ContainerGuard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2200" b="0" dirty="0">
                <a:solidFill>
                  <a:srgbClr val="2563EB"/>
                </a:solidFill>
                <a:latin typeface="Calibri"/>
              </a:rPr>
              <a:t>Container Security Monitoring &amp; Compliance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834640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600" b="0" dirty="0">
                <a:solidFill>
                  <a:srgbClr val="6C6C80"/>
                </a:solidFill>
                <a:latin typeface="Calibri"/>
              </a:rPr>
              <a:t>Real-time security telemetry, vulnerability scanning, and compliance
enforcement for containerized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3840480"/>
            <a:ext cx="2651760" cy="384048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0" y="385876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00" b="1" dirty="0">
                <a:solidFill>
                  <a:srgbClr val="7C3AED"/>
                </a:solidFill>
                <a:latin typeface="Calibri"/>
              </a:rPr>
              <a:t>Team Segmentation Fault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300" b="0">
                <a:solidFill>
                  <a:srgbClr val="6C6C80"/>
                </a:solidFill>
                <a:latin typeface="Calibri"/>
              </a:rPr>
              <a:t>Sanjib Sen  ·  Jackson Saenz  ·  Ahsan Habib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200" b="0" dirty="0">
                <a:solidFill>
                  <a:srgbClr val="6C6C80"/>
                </a:solidFill>
                <a:latin typeface="Calibri"/>
              </a:rPr>
              <a:t>COSC 6352  ·  Advanced Operating Systems
Texas A&amp;M University, Corpus Christi  ·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3200" b="1">
                <a:solidFill>
                  <a:srgbClr val="1E1E2E"/>
                </a:solidFill>
                <a:latin typeface="Calibri"/>
              </a:rPr>
              <a:t>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3454298" cy="50292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2480" y="1356360"/>
            <a:ext cx="3149498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1E1E2E"/>
                </a:solidFill>
                <a:latin typeface="Calibri"/>
              </a:rPr>
              <a:t>1. Project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68698" y="1280160"/>
            <a:ext cx="3454298" cy="50292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21098" y="1356360"/>
            <a:ext cx="3149498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1E1E2E"/>
                </a:solidFill>
                <a:latin typeface="Calibri"/>
              </a:rPr>
              <a:t>2. System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7316" y="1280160"/>
            <a:ext cx="3454298" cy="50292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49716" y="1356360"/>
            <a:ext cx="3149498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1E1E2E"/>
                </a:solidFill>
                <a:latin typeface="Calibri"/>
              </a:rPr>
              <a:t>3.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3454298" cy="50292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2480" y="2042160"/>
            <a:ext cx="3149498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1E1E2E"/>
                </a:solidFill>
                <a:latin typeface="Calibri"/>
              </a:rPr>
              <a:t>4. Algorithms &amp; Protocols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965960"/>
            <a:ext cx="3454298" cy="50292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1098" y="2042160"/>
            <a:ext cx="3149498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1E1E2E"/>
                </a:solidFill>
                <a:latin typeface="Calibri"/>
              </a:rPr>
              <a:t>5. Concurrency &amp; Distribution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965960"/>
            <a:ext cx="3454298" cy="50292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9716" y="2042160"/>
            <a:ext cx="3149498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1E1E2E"/>
                </a:solidFill>
                <a:latin typeface="Calibri"/>
              </a:rPr>
              <a:t>6. Implementation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51760"/>
            <a:ext cx="3454298" cy="50292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2480" y="2727960"/>
            <a:ext cx="3149498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1E1E2E"/>
                </a:solidFill>
                <a:latin typeface="Calibri"/>
              </a:rPr>
              <a:t>7. Evaluation 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8698" y="2651760"/>
            <a:ext cx="3454298" cy="50292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1098" y="2727960"/>
            <a:ext cx="3149498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1E1E2E"/>
                </a:solidFill>
                <a:latin typeface="Calibri"/>
              </a:rPr>
              <a:t>8. Challenges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7316" y="2651760"/>
            <a:ext cx="3454298" cy="50292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49716" y="2727960"/>
            <a:ext cx="3149498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1E1E2E"/>
                </a:solidFill>
                <a:latin typeface="Calibri"/>
              </a:rPr>
              <a:t>9. Team Roles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>
                <a:solidFill>
                  <a:srgbClr val="6C6C80"/>
                </a:solidFill>
                <a:latin typeface="Calibri"/>
              </a:rPr>
              <a:t>ContainerGuard  /  COSC 6352 Project Proposal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2000" b="0">
                <a:solidFill>
                  <a:srgbClr val="6C6C80"/>
                </a:solidFill>
                <a:latin typeface="Calibri"/>
              </a:rPr>
              <a:t>What problem are we solving?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3200" b="1">
                <a:solidFill>
                  <a:srgbClr val="1E1E2E"/>
                </a:solidFill>
                <a:latin typeface="Calibri"/>
              </a:rP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0911535" cy="77724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7880" y="1188720"/>
            <a:ext cx="10555935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500" b="1" dirty="0">
                <a:solidFill>
                  <a:srgbClr val="1E1E2E"/>
                </a:solidFill>
                <a:latin typeface="Calibri"/>
              </a:rPr>
              <a:t>Containers are everywhere, </a:t>
            </a:r>
            <a:r>
              <a:rPr lang="en-US" sz="1500" b="1" dirty="0">
                <a:solidFill>
                  <a:srgbClr val="1E1E2E"/>
                </a:solidFill>
                <a:latin typeface="Calibri"/>
              </a:rPr>
              <a:t>rapidly growing in self hosted community</a:t>
            </a:r>
            <a:endParaRPr sz="1500" b="1" dirty="0">
              <a:solidFill>
                <a:srgbClr val="1E1E2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7879" y="1440180"/>
            <a:ext cx="10555935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300" b="0" dirty="0">
                <a:solidFill>
                  <a:srgbClr val="1E1E2E"/>
                </a:solidFill>
                <a:latin typeface="Calibri"/>
              </a:rPr>
              <a:t>Startups and general users </a:t>
            </a:r>
            <a:r>
              <a:rPr sz="1300" b="0" dirty="0">
                <a:solidFill>
                  <a:srgbClr val="1E1E2E"/>
                </a:solidFill>
                <a:latin typeface="Calibri"/>
              </a:rPr>
              <a:t>deploy hundreds of containers with no unified view of what happens inside them at runtime.</a:t>
            </a:r>
            <a:endParaRPr lang="en-US" sz="1300" b="0" dirty="0">
              <a:solidFill>
                <a:srgbClr val="1E1E2E"/>
              </a:solidFill>
              <a:latin typeface="Calibri"/>
            </a:endParaRPr>
          </a:p>
          <a:p>
            <a:pPr algn="l"/>
            <a:r>
              <a:rPr lang="en-US" sz="1300" dirty="0">
                <a:solidFill>
                  <a:srgbClr val="1E1E2E"/>
                </a:solidFill>
                <a:latin typeface="Calibri"/>
              </a:rPr>
              <a:t>Security Solutions between Enterprise vs Community</a:t>
            </a:r>
            <a:endParaRPr lang="en-US" sz="1300" b="0" dirty="0">
              <a:solidFill>
                <a:srgbClr val="1E1E2E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1">
                <a:solidFill>
                  <a:srgbClr val="6C6C80"/>
                </a:solidFill>
                <a:latin typeface="Calibri"/>
              </a:rPr>
              <a:t>SECURITY BLIND SPOTS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318607" cy="2286000"/>
          </a:xfrm>
          <a:prstGeom prst="rect">
            <a:avLst/>
          </a:prstGeom>
          <a:noFill/>
        </p:spPr>
        <p:txBody>
          <a:bodyPr wrap="square" lIns="50800" tIns="0" rIns="0" bIns="0"/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1E1E2E"/>
                </a:solidFill>
                <a:latin typeface="Calibri"/>
              </a:rPr>
              <a:t>Unauthorized network connections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1E1E2E"/>
                </a:solidFill>
                <a:latin typeface="Calibri"/>
              </a:rPr>
              <a:t>Unexpected open ports</a:t>
            </a:r>
            <a:endParaRPr lang="en-US" sz="1300" dirty="0">
              <a:solidFill>
                <a:srgbClr val="1E1E2E"/>
              </a:solidFill>
              <a:latin typeface="Calibri"/>
            </a:endParaRP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E1E2E"/>
                </a:solidFill>
                <a:latin typeface="Calibri"/>
              </a:rPr>
              <a:t>Sensitive file access (/</a:t>
            </a:r>
            <a:r>
              <a:rPr lang="en-US" sz="1300" dirty="0" err="1">
                <a:solidFill>
                  <a:srgbClr val="1E1E2E"/>
                </a:solidFill>
                <a:latin typeface="Calibri"/>
              </a:rPr>
              <a:t>etc</a:t>
            </a:r>
            <a:r>
              <a:rPr lang="en-US" sz="1300" dirty="0">
                <a:solidFill>
                  <a:srgbClr val="1E1E2E"/>
                </a:solidFill>
                <a:latin typeface="Calibri"/>
              </a:rPr>
              <a:t>/x)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1E1E2E"/>
                </a:solidFill>
                <a:latin typeface="Calibri"/>
              </a:rPr>
              <a:t>Resource anomalies (e.g., crypto-mining)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1E1E2E"/>
                </a:solidFill>
                <a:latin typeface="Calibri"/>
              </a:rPr>
              <a:t>Vulnerable base images in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7" y="2148840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1">
                <a:solidFill>
                  <a:srgbClr val="6C6C80"/>
                </a:solidFill>
                <a:latin typeface="Calibri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007" y="2468880"/>
            <a:ext cx="5318607" cy="2286000"/>
          </a:xfrm>
          <a:prstGeom prst="rect">
            <a:avLst/>
          </a:prstGeom>
          <a:noFill/>
        </p:spPr>
        <p:txBody>
          <a:bodyPr wrap="square" lIns="50800" tIns="0" rIns="0" bIns="0"/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1E1E2E"/>
                </a:solidFill>
                <a:latin typeface="Calibri"/>
              </a:rPr>
              <a:t>Containers share the host kernel =&gt; one compromise can escalate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1E1E2E"/>
                </a:solidFill>
                <a:latin typeface="Calibri"/>
              </a:rPr>
              <a:t>Short-lived containers make forensics hard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1E1E2E"/>
                </a:solidFill>
                <a:latin typeface="Calibri"/>
              </a:rPr>
              <a:t>Compliance (CIS Benchmarks) requires continuous monitoring</a:t>
            </a:r>
            <a:endParaRPr lang="en-US" sz="1300" dirty="0">
              <a:solidFill>
                <a:srgbClr val="1E1E2E"/>
              </a:solidFill>
              <a:latin typeface="Calibri"/>
            </a:endParaRP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E1E2E"/>
                </a:solidFill>
                <a:latin typeface="Calibri"/>
              </a:rPr>
              <a:t>Growing use of self hosted 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>
                <a:solidFill>
                  <a:srgbClr val="6C6C80"/>
                </a:solidFill>
                <a:latin typeface="Calibri"/>
              </a:rPr>
              <a:t>ContainerGuard  /  COSC 6352 Project Proposal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0D6380-B4EF-7F29-7434-2D88B787B6AD}"/>
              </a:ext>
            </a:extLst>
          </p:cNvPr>
          <p:cNvSpPr txBox="1"/>
          <p:nvPr/>
        </p:nvSpPr>
        <p:spPr>
          <a:xfrm>
            <a:off x="2844800" y="5130800"/>
            <a:ext cx="5155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 heard of </a:t>
            </a:r>
            <a:r>
              <a:rPr lang="en-US" dirty="0" err="1"/>
              <a:t>immich</a:t>
            </a:r>
            <a:r>
              <a:rPr lang="en-US" dirty="0"/>
              <a:t>, </a:t>
            </a:r>
            <a:r>
              <a:rPr lang="en-US" dirty="0" err="1"/>
              <a:t>coolify</a:t>
            </a:r>
            <a:r>
              <a:rPr lang="en-US" dirty="0"/>
              <a:t>, </a:t>
            </a:r>
            <a:r>
              <a:rPr lang="en-US" dirty="0" err="1"/>
              <a:t>nextcloud</a:t>
            </a:r>
            <a:r>
              <a:rPr lang="en-US" dirty="0"/>
              <a:t>, docker-</a:t>
            </a:r>
            <a:r>
              <a:rPr lang="en-US" dirty="0" err="1"/>
              <a:t>osx</a:t>
            </a:r>
            <a:r>
              <a:rPr lang="en-US" dirty="0"/>
              <a:t>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3200" b="1">
                <a:solidFill>
                  <a:srgbClr val="1E1E2E"/>
                </a:solidFill>
                <a:latin typeface="Calibri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500" b="0">
                <a:solidFill>
                  <a:srgbClr val="6C6C80"/>
                </a:solidFill>
                <a:latin typeface="Calibri"/>
              </a:rPr>
              <a:t>A distributed monitoring platform with three core components: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454298" cy="201168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7880" y="1681480"/>
            <a:ext cx="3098698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500" b="1" dirty="0">
                <a:solidFill>
                  <a:srgbClr val="2563EB"/>
                </a:solidFill>
                <a:latin typeface="Calibri"/>
              </a:rPr>
              <a:t>Lightweight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7880" y="2001520"/>
            <a:ext cx="3098698" cy="1463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 dirty="0">
                <a:solidFill>
                  <a:srgbClr val="1E1E2E"/>
                </a:solidFill>
                <a:latin typeface="Calibri"/>
              </a:rPr>
              <a:t>Deployed per container. Collects:
Network I/O, Open Ports,
File Access, CPU/Memory, Processes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554480"/>
            <a:ext cx="3454298" cy="201168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46498" y="1681480"/>
            <a:ext cx="3098698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500" b="1">
                <a:solidFill>
                  <a:srgbClr val="16A34A"/>
                </a:solidFill>
                <a:latin typeface="Calibri"/>
              </a:rPr>
              <a:t>Central Server (FastAPI)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6498" y="2001520"/>
            <a:ext cx="3098698" cy="1463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 dirty="0">
                <a:solidFill>
                  <a:srgbClr val="1E1E2E"/>
                </a:solidFill>
                <a:latin typeface="Calibri"/>
              </a:rPr>
              <a:t>Aggregates telemetry &amp; enforces security:
Compliance, Alerts,
Vuln Scanner, Anomaly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554480"/>
            <a:ext cx="3454298" cy="201168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116" y="1681480"/>
            <a:ext cx="3098698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500" b="1">
                <a:solidFill>
                  <a:srgbClr val="EA580C"/>
                </a:solidFill>
                <a:latin typeface="Calibri"/>
              </a:rPr>
              <a:t>Web Dashboard + Grafana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116" y="2001520"/>
            <a:ext cx="3098698" cy="1463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 dirty="0">
                <a:solidFill>
                  <a:srgbClr val="1E1E2E"/>
                </a:solidFill>
                <a:latin typeface="Calibri"/>
              </a:rPr>
              <a:t>Real-time operator UI:
Live Metrics, Alert Feed,
CVE Reports, Compliance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75888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 dirty="0">
                <a:solidFill>
                  <a:srgbClr val="6C6C80"/>
                </a:solidFill>
                <a:latin typeface="Calibri"/>
              </a:rPr>
              <a:t>Similar to: </a:t>
            </a:r>
            <a:r>
              <a:rPr sz="1100" b="0" dirty="0" err="1">
                <a:solidFill>
                  <a:srgbClr val="6C6C80"/>
                </a:solidFill>
                <a:latin typeface="Calibri"/>
              </a:rPr>
              <a:t>Sysdig</a:t>
            </a:r>
            <a:r>
              <a:rPr sz="1100" b="0" dirty="0">
                <a:solidFill>
                  <a:srgbClr val="6C6C80"/>
                </a:solidFill>
                <a:latin typeface="Calibri"/>
              </a:rPr>
              <a:t> Secure, Falco, Datadog Container Monitoring</a:t>
            </a:r>
            <a:r>
              <a:rPr lang="en-US" sz="1100" b="0" dirty="0">
                <a:solidFill>
                  <a:srgbClr val="6C6C80"/>
                </a:solidFill>
                <a:latin typeface="Calibri"/>
              </a:rPr>
              <a:t> but for Open-Source community</a:t>
            </a:r>
            <a:endParaRPr sz="1100" b="0" dirty="0">
              <a:solidFill>
                <a:srgbClr val="6C6C8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>
                <a:solidFill>
                  <a:srgbClr val="6C6C80"/>
                </a:solidFill>
                <a:latin typeface="Calibri"/>
              </a:rPr>
              <a:t>ContainerGuard  /  COSC 6352 Project Proposal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2. System Model &amp;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2000" b="0">
                <a:solidFill>
                  <a:srgbClr val="6C6C80"/>
                </a:solidFill>
                <a:latin typeface="Calibri"/>
              </a:rPr>
              <a:t>What kind of distributed system?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3200" b="1">
                <a:solidFill>
                  <a:srgbClr val="1E1E2E"/>
                </a:solidFill>
                <a:latin typeface="Calibri"/>
              </a:rPr>
              <a:t>System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5318607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7880" y="1315720"/>
            <a:ext cx="4963007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1E1E2E"/>
                </a:solidFill>
                <a:latin typeface="Calibri"/>
              </a:rPr>
              <a:t>Architecture: Centralized (Hub &amp; Spoke)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7880" y="1608328"/>
            <a:ext cx="4963007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 dirty="0">
                <a:solidFill>
                  <a:srgbClr val="1E1E2E"/>
                </a:solidFill>
                <a:latin typeface="Calibri"/>
              </a:rPr>
              <a:t>Single control-plane server + N distributed agents, one per </a:t>
            </a:r>
            <a:r>
              <a:rPr lang="en-US" sz="1200" dirty="0">
                <a:solidFill>
                  <a:srgbClr val="1E1E2E"/>
                </a:solidFill>
                <a:latin typeface="Calibri"/>
              </a:rPr>
              <a:t>host or container</a:t>
            </a:r>
            <a:r>
              <a:rPr sz="1200" b="0" dirty="0">
                <a:solidFill>
                  <a:srgbClr val="1E1E2E"/>
                </a:solidFill>
                <a:latin typeface="Calibri"/>
              </a:rPr>
              <a:t>. Agents are stateless collectors that push telemetry to the server.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188720"/>
            <a:ext cx="5318607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10807" y="1315720"/>
            <a:ext cx="4963007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1E1E2E"/>
                </a:solidFill>
                <a:latin typeface="Calibri"/>
              </a:rPr>
              <a:t>Network: Reliable (Docker bridge/overlay)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0807" y="1608328"/>
            <a:ext cx="4963007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 dirty="0">
                <a:solidFill>
                  <a:srgbClr val="1E1E2E"/>
                </a:solidFill>
                <a:latin typeface="Calibri"/>
              </a:rPr>
              <a:t>Communication over TCP (HTTP + WebSocket). Retries with exponential backoff handle </a:t>
            </a:r>
            <a:r>
              <a:rPr lang="en-US" sz="1200" b="0" dirty="0">
                <a:solidFill>
                  <a:srgbClr val="1E1E2E"/>
                </a:solidFill>
                <a:latin typeface="Calibri"/>
              </a:rPr>
              <a:t>short-lived</a:t>
            </a:r>
            <a:r>
              <a:rPr sz="1200" b="0" dirty="0">
                <a:solidFill>
                  <a:srgbClr val="1E1E2E"/>
                </a:solidFill>
                <a:latin typeface="Calibri"/>
              </a:rPr>
              <a:t> failures.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5318607" cy="132588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7880" y="2824480"/>
            <a:ext cx="4963007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1E1E2E"/>
                </a:solidFill>
                <a:latin typeface="Calibri"/>
              </a:rPr>
              <a:t>Failure Model: Crash-Failure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7880" y="3117088"/>
            <a:ext cx="4963007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 dirty="0">
                <a:solidFill>
                  <a:srgbClr val="1E1E2E"/>
                </a:solidFill>
                <a:latin typeface="Calibri"/>
              </a:rPr>
              <a:t>Agent crash =&gt; server detects via missed heartbeats.
Server crash =&gt; agents buffer locally &amp; replay on reconnect.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697480"/>
            <a:ext cx="5318607" cy="132588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0807" y="2824480"/>
            <a:ext cx="4963007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1E1E2E"/>
                </a:solidFill>
                <a:latin typeface="Calibri"/>
              </a:rPr>
              <a:t>Consistency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807" y="3117088"/>
            <a:ext cx="4963007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 dirty="0">
                <a:solidFill>
                  <a:srgbClr val="1E1E2E"/>
                </a:solidFill>
                <a:latin typeface="Calibri"/>
              </a:rPr>
              <a:t>Eventual consistency for metrics (1-5s lag OK).
Strong consistency for compliance state &amp; alert acks (PostgreSQL ACID).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>
                <a:solidFill>
                  <a:srgbClr val="6C6C80"/>
                </a:solidFill>
                <a:latin typeface="Calibri"/>
              </a:rPr>
              <a:t>ContainerGuard  /  COSC 6352 Project Proposal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4400" b="1" dirty="0">
                <a:solidFill>
                  <a:srgbClr val="FFFFFF"/>
                </a:solidFill>
                <a:latin typeface="Calibri"/>
              </a:rPr>
              <a:t>3. High-Level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2000" b="0" dirty="0">
                <a:solidFill>
                  <a:srgbClr val="6C6C80"/>
                </a:solidFill>
                <a:latin typeface="Calibri"/>
              </a:rPr>
              <a:t>Components and communication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3200" b="1">
                <a:solidFill>
                  <a:srgbClr val="1E1E2E"/>
                </a:solidFill>
                <a:latin typeface="Calibri"/>
              </a:rP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15287" y="1097280"/>
            <a:ext cx="1645920" cy="64008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15287" y="1173480"/>
            <a:ext cx="1645920" cy="563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100" b="1" dirty="0">
                <a:solidFill>
                  <a:srgbClr val="166534"/>
                </a:solidFill>
                <a:latin typeface="Calibri"/>
              </a:rPr>
              <a:t>Container 1
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44087" y="1097280"/>
            <a:ext cx="1645920" cy="64008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44087" y="1173480"/>
            <a:ext cx="1645920" cy="563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100" b="1" dirty="0">
                <a:solidFill>
                  <a:srgbClr val="166534"/>
                </a:solidFill>
                <a:latin typeface="Calibri"/>
              </a:rPr>
              <a:t>Container 2
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72887" y="1097280"/>
            <a:ext cx="1645920" cy="64008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72887" y="1173480"/>
            <a:ext cx="1645920" cy="563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100" b="1" dirty="0">
                <a:solidFill>
                  <a:srgbClr val="166534"/>
                </a:solidFill>
                <a:latin typeface="Calibri"/>
              </a:rPr>
              <a:t>Container 3
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1687" y="122428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600" b="0">
                <a:solidFill>
                  <a:srgbClr val="6C6C80"/>
                </a:solidFill>
                <a:latin typeface="Calibri"/>
              </a:rPr>
              <a:t>. . 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0487" y="1097280"/>
            <a:ext cx="1645920" cy="64008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30487" y="1173480"/>
            <a:ext cx="1645920" cy="563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100" b="1">
                <a:solidFill>
                  <a:srgbClr val="166534"/>
                </a:solidFill>
                <a:latin typeface="Calibri"/>
              </a:rPr>
              <a:t>Container N
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800" b="0" dirty="0">
                <a:solidFill>
                  <a:srgbClr val="6C6C80"/>
                </a:solidFill>
                <a:latin typeface="Calibri"/>
              </a:rPr>
              <a:t>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011680"/>
            <a:ext cx="1033272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000" b="0" dirty="0">
                <a:solidFill>
                  <a:srgbClr val="6C6C80"/>
                </a:solidFill>
                <a:latin typeface="Calibri"/>
              </a:rPr>
              <a:t>HTTP REST (telemetry every </a:t>
            </a:r>
            <a:r>
              <a:rPr lang="en-US" sz="1000" dirty="0" err="1">
                <a:solidFill>
                  <a:srgbClr val="6C6C80"/>
                </a:solidFill>
                <a:latin typeface="Calibri"/>
              </a:rPr>
              <a:t>X</a:t>
            </a:r>
            <a:r>
              <a:rPr sz="1000" b="0" dirty="0" err="1">
                <a:solidFill>
                  <a:srgbClr val="6C6C80"/>
                </a:solidFill>
                <a:latin typeface="Calibri"/>
              </a:rPr>
              <a:t>s</a:t>
            </a:r>
            <a:r>
              <a:rPr sz="1000" b="0" dirty="0">
                <a:solidFill>
                  <a:srgbClr val="6C6C80"/>
                </a:solidFill>
                <a:latin typeface="Calibri"/>
              </a:rPr>
              <a:t>, heartbeat every </a:t>
            </a:r>
            <a:r>
              <a:rPr lang="en-US" sz="1000" dirty="0">
                <a:solidFill>
                  <a:srgbClr val="6C6C80"/>
                </a:solidFill>
                <a:latin typeface="Calibri"/>
              </a:rPr>
              <a:t>Y</a:t>
            </a:r>
            <a:r>
              <a:rPr sz="1000" b="0" dirty="0">
                <a:solidFill>
                  <a:srgbClr val="6C6C80"/>
                </a:solidFill>
                <a:latin typeface="Calibri"/>
              </a:rPr>
              <a:t>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81047" y="2286000"/>
            <a:ext cx="8229600" cy="1371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81047" y="23876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400" b="1">
                <a:solidFill>
                  <a:srgbClr val="1E40AF"/>
                </a:solidFill>
                <a:latin typeface="Calibri"/>
              </a:rPr>
              <a:t>Central Server (FastAPI)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3091" y="2743200"/>
            <a:ext cx="1417320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33091" y="2781300"/>
            <a:ext cx="1417320" cy="2545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>
                <a:solidFill>
                  <a:srgbClr val="1E1E2E"/>
                </a:solidFill>
                <a:latin typeface="Calibri"/>
              </a:rPr>
              <a:t>Telemetry Collector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60139" y="2743200"/>
            <a:ext cx="1417320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60139" y="2781300"/>
            <a:ext cx="1417320" cy="2545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>
                <a:solidFill>
                  <a:srgbClr val="1E1E2E"/>
                </a:solidFill>
                <a:latin typeface="Calibri"/>
              </a:rPr>
              <a:t>Compliance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87187" y="2743200"/>
            <a:ext cx="1417320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87187" y="2781300"/>
            <a:ext cx="1417320" cy="2545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>
                <a:solidFill>
                  <a:srgbClr val="1E1E2E"/>
                </a:solidFill>
                <a:latin typeface="Calibri"/>
              </a:rPr>
              <a:t>Vuln Scanner (Trivy)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14235" y="2743200"/>
            <a:ext cx="1417320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14235" y="2781300"/>
            <a:ext cx="1417320" cy="2545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 dirty="0">
                <a:solidFill>
                  <a:srgbClr val="1E1E2E"/>
                </a:solidFill>
                <a:latin typeface="Calibri"/>
              </a:rPr>
              <a:t>Alert Manager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41283" y="2743200"/>
            <a:ext cx="1417320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41283" y="2781300"/>
            <a:ext cx="1417320" cy="2545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>
                <a:solidFill>
                  <a:srgbClr val="1E1E2E"/>
                </a:solidFill>
                <a:latin typeface="Calibri"/>
              </a:rPr>
              <a:t>Metrics Exporter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81047" y="329184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000" b="0">
                <a:solidFill>
                  <a:srgbClr val="6C6C80"/>
                </a:solidFill>
                <a:latin typeface="Calibri"/>
              </a:rPr>
              <a:t>Internal event bus: Redis Pub/Sub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703320"/>
            <a:ext cx="1033272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800" b="0">
                <a:solidFill>
                  <a:srgbClr val="6C6C80"/>
                </a:solidFill>
                <a:latin typeface="Calibri"/>
              </a:rPr>
              <a:t>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55367" y="3977640"/>
            <a:ext cx="1645920" cy="59436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55367" y="4028440"/>
            <a:ext cx="1645920" cy="5435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000" b="1" dirty="0">
                <a:solidFill>
                  <a:srgbClr val="5B21B6"/>
                </a:solidFill>
                <a:latin typeface="Calibri"/>
              </a:rPr>
              <a:t>PostgreSQL
State &amp; Events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67047" y="3977640"/>
            <a:ext cx="1645920" cy="59436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67047" y="4028440"/>
            <a:ext cx="1645920" cy="5435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000" b="1" dirty="0">
                <a:solidFill>
                  <a:srgbClr val="5B21B6"/>
                </a:solidFill>
                <a:latin typeface="Calibri"/>
              </a:rPr>
              <a:t>Redis
Cache &amp; Pub/Sub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8727" y="3977640"/>
            <a:ext cx="1645920" cy="59436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78727" y="4028440"/>
            <a:ext cx="1645920" cy="5435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000" b="1">
                <a:solidFill>
                  <a:srgbClr val="5B21B6"/>
                </a:solidFill>
                <a:latin typeface="Calibri"/>
              </a:rPr>
              <a:t>Prometheus
Time-series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0367" y="41046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600" b="0">
                <a:solidFill>
                  <a:srgbClr val="6C6C80"/>
                </a:solidFill>
                <a:latin typeface="Calibr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90407" y="3977640"/>
            <a:ext cx="1645920" cy="59436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90407" y="4028440"/>
            <a:ext cx="1645920" cy="5435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000" b="1" dirty="0">
                <a:solidFill>
                  <a:srgbClr val="5B21B6"/>
                </a:solidFill>
                <a:latin typeface="Calibri"/>
              </a:rPr>
              <a:t>Grafana
Dashboards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617720"/>
            <a:ext cx="1033272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800" b="0">
                <a:solidFill>
                  <a:srgbClr val="6C6C80"/>
                </a:solidFill>
                <a:latin typeface="Calibri"/>
              </a:rPr>
              <a:t>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782312"/>
            <a:ext cx="1033272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000" b="0">
                <a:solidFill>
                  <a:srgbClr val="6C6C80"/>
                </a:solidFill>
                <a:latin typeface="Calibri"/>
              </a:rPr>
              <a:t>WebSocket (real-time push)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09847" y="4983480"/>
            <a:ext cx="4572000" cy="4572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809847" y="5059680"/>
            <a:ext cx="4572000" cy="381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200" b="1" dirty="0">
                <a:solidFill>
                  <a:srgbClr val="9A3412"/>
                </a:solidFill>
                <a:latin typeface="Calibri"/>
              </a:rPr>
              <a:t>Web Dashboard (React + TypeScript + Tailwind)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>
                <a:solidFill>
                  <a:srgbClr val="6C6C80"/>
                </a:solidFill>
                <a:latin typeface="Calibri"/>
              </a:rPr>
              <a:t>ContainerGuard  /  COSC 6352 Project Proposal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10D0C1-2CB3-593C-A2C0-E7C646E46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82093"/>
            <a:ext cx="7772400" cy="36938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3C9FDD-9331-3B77-7313-5C2503E50897}"/>
              </a:ext>
            </a:extLst>
          </p:cNvPr>
          <p:cNvSpPr txBox="1"/>
          <p:nvPr/>
        </p:nvSpPr>
        <p:spPr>
          <a:xfrm>
            <a:off x="-2781300" y="1124893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2000" b="0" dirty="0">
                <a:solidFill>
                  <a:schemeClr val="bg1"/>
                </a:solidFill>
                <a:latin typeface="Calibri"/>
              </a:rPr>
              <a:t>Agent Service</a:t>
            </a:r>
            <a:endParaRPr sz="2000" b="0" dirty="0">
              <a:solidFill>
                <a:schemeClr val="bg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2149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3200" b="1">
                <a:solidFill>
                  <a:srgbClr val="1E1E2E"/>
                </a:solidFill>
                <a:latin typeface="Calibri"/>
              </a:rPr>
              <a:t>Communication Patterns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124603"/>
              </p:ext>
            </p:extLst>
          </p:nvPr>
        </p:nvGraphicFramePr>
        <p:xfrm>
          <a:off x="640080" y="1097280"/>
          <a:ext cx="1091153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2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Protocol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Agent =&gt;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E1E2E"/>
                          </a:solidFill>
                          <a:latin typeface="Calibri"/>
                        </a:rPr>
                        <a:t>HTTP 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E1E2E"/>
                          </a:solidFill>
                          <a:latin typeface="Calibri"/>
                        </a:rPr>
                        <a:t>Push telemetry every 5s, heartbeat every 10s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Server =&gt; Dashboard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E1E2E"/>
                          </a:solidFill>
                          <a:latin typeface="Calibri"/>
                        </a:rPr>
                        <a:t>WebSocket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Real-time push on new events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Server internal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E1E2E"/>
                          </a:solidFill>
                          <a:latin typeface="Calibri"/>
                        </a:rPr>
                        <a:t>Redis Pub/Sub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E1E2E"/>
                          </a:solidFill>
                          <a:latin typeface="Calibri"/>
                        </a:rPr>
                        <a:t>Event bus (ingest =&gt; alert =&gt; broadcast)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Prometheus =&gt; Server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E1E2E"/>
                          </a:solidFill>
                          <a:latin typeface="Calibri"/>
                        </a:rPr>
                        <a:t>HTTP scrape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E1E2E"/>
                          </a:solidFill>
                          <a:latin typeface="Calibri"/>
                        </a:rPr>
                        <a:t>Pull metrics every </a:t>
                      </a:r>
                      <a:r>
                        <a:rPr lang="en-US" sz="1200" b="0" dirty="0">
                          <a:solidFill>
                            <a:srgbClr val="1E1E2E"/>
                          </a:solidFill>
                          <a:latin typeface="Calibri"/>
                        </a:rPr>
                        <a:t>15</a:t>
                      </a:r>
                      <a:r>
                        <a:rPr sz="1200" b="0" dirty="0">
                          <a:solidFill>
                            <a:srgbClr val="1E1E2E"/>
                          </a:solidFill>
                          <a:latin typeface="Calibri"/>
                        </a:rPr>
                        <a:t>s from /metrics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Agent &lt;=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HTTP 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E1E2E"/>
                          </a:solidFill>
                          <a:latin typeface="Calibri"/>
                        </a:rPr>
                        <a:t>Agent polls config every 60s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0080" y="3383280"/>
            <a:ext cx="5318607" cy="118872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7880" y="3484880"/>
            <a:ext cx="4963007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300" b="1">
                <a:solidFill>
                  <a:srgbClr val="1E1E2E"/>
                </a:solidFill>
                <a:latin typeface="Calibri"/>
              </a:rPr>
              <a:t>Agent Data Collected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7880" y="3759200"/>
            <a:ext cx="4963007" cy="7772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 dirty="0">
                <a:solidFill>
                  <a:srgbClr val="1E1E2E"/>
                </a:solidFill>
                <a:latin typeface="Calibri"/>
              </a:rPr>
              <a:t>Inbound/outbound connections, Listening ports + PIDs,
File read/write events, CPU/Memory/Net/Disk,
Running processes, DNS 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3383280"/>
            <a:ext cx="5318607" cy="118872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10807" y="3484880"/>
            <a:ext cx="4963007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300" b="1">
                <a:solidFill>
                  <a:srgbClr val="1E1E2E"/>
                </a:solidFill>
                <a:latin typeface="Calibri"/>
              </a:rPr>
              <a:t>Server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0807" y="3759200"/>
            <a:ext cx="4963007" cy="7772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 dirty="0">
                <a:solidFill>
                  <a:srgbClr val="1E1E2E"/>
                </a:solidFill>
                <a:latin typeface="Calibri"/>
              </a:rPr>
              <a:t>Telemetry aggregation, Compliance rule evaluation,
</a:t>
            </a:r>
            <a:r>
              <a:rPr sz="1100" b="0" dirty="0" err="1">
                <a:solidFill>
                  <a:srgbClr val="1E1E2E"/>
                </a:solidFill>
                <a:latin typeface="Calibri"/>
              </a:rPr>
              <a:t>Trivy</a:t>
            </a:r>
            <a:r>
              <a:rPr sz="1100" b="0" dirty="0">
                <a:solidFill>
                  <a:srgbClr val="1E1E2E"/>
                </a:solidFill>
                <a:latin typeface="Calibri"/>
              </a:rPr>
              <a:t> image scanning, Threshold-based alerting,
Z-score anomaly detection, Prometheus metrics 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3023" y="6615541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 dirty="0" err="1">
                <a:solidFill>
                  <a:srgbClr val="6C6C80"/>
                </a:solidFill>
                <a:latin typeface="Calibri"/>
              </a:rPr>
              <a:t>ContainerGuard</a:t>
            </a:r>
            <a:r>
              <a:rPr sz="900" b="0" dirty="0">
                <a:solidFill>
                  <a:srgbClr val="6C6C80"/>
                </a:solidFill>
                <a:latin typeface="Calibri"/>
              </a:rPr>
              <a:t>  /  COSC 6352 Project Proposal</a:t>
            </a:r>
          </a:p>
        </p:txBody>
      </p:sp>
      <p:pic>
        <p:nvPicPr>
          <p:cNvPr id="4098" name="Picture 2" descr="Exploits of a Mom">
            <a:extLst>
              <a:ext uri="{FF2B5EF4-FFF2-40B4-BE49-F238E27FC236}">
                <a16:creationId xmlns:a16="http://schemas.microsoft.com/office/drawing/2014/main" id="{D12C7EC7-0A0F-923E-5E14-9E171E5DA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850" y="4742179"/>
            <a:ext cx="6593993" cy="2029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4. Algorithms &amp; Protocols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2000" b="0">
                <a:solidFill>
                  <a:srgbClr val="6C6C80"/>
                </a:solidFill>
                <a:latin typeface="Calibri"/>
              </a:rPr>
              <a:t>What makes this distributed?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3200" b="1">
                <a:solidFill>
                  <a:srgbClr val="1E1E2E"/>
                </a:solidFill>
                <a:latin typeface="Calibri"/>
              </a:rPr>
              <a:t>Algorithms &amp; Protocols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5318607" cy="164592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7880" y="1224280"/>
            <a:ext cx="4963007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 dirty="0">
                <a:solidFill>
                  <a:srgbClr val="1E1E2E"/>
                </a:solidFill>
                <a:latin typeface="Calibri"/>
              </a:rPr>
              <a:t>Anomaly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7880" y="1498600"/>
            <a:ext cx="4963007" cy="11887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 dirty="0">
                <a:solidFill>
                  <a:srgbClr val="1E1E2E"/>
                </a:solidFill>
                <a:latin typeface="Calibri"/>
              </a:rPr>
              <a:t>Sliding Window + Z-Score
• 5-min rolling average per metric per container
• Alert when value &gt; 2 std deviations from mean
• Configurable per metric (CPU, memory, net I/O)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097280"/>
            <a:ext cx="5318607" cy="164592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10807" y="1224280"/>
            <a:ext cx="4963007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1E1E2E"/>
                </a:solidFill>
                <a:latin typeface="Calibri"/>
              </a:rPr>
              <a:t>Failure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0807" y="1498600"/>
            <a:ext cx="4963007" cy="11887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 dirty="0">
                <a:solidFill>
                  <a:srgbClr val="1E1E2E"/>
                </a:solidFill>
                <a:latin typeface="Calibri"/>
              </a:rPr>
              <a:t>Agent =&gt; Server: exponential backoff (1s, 2s, 4s... max 30s)
Heartbeat: 30s missed =&gt; "unreachable", 5min =&gt; "offline"
Idempotent ingestion: unique batch IDs, server deduplicates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26080"/>
            <a:ext cx="5318607" cy="164592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7880" y="3053080"/>
            <a:ext cx="4963007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1E1E2E"/>
                </a:solidFill>
                <a:latin typeface="Calibri"/>
              </a:rPr>
              <a:t>Network Security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7880" y="3327400"/>
            <a:ext cx="4963007" cy="11887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 dirty="0">
                <a:solidFill>
                  <a:srgbClr val="1E1E2E"/>
                </a:solidFill>
                <a:latin typeface="Calibri"/>
              </a:rPr>
              <a:t>• Allowlist / Blocklist for outbound destinations
• Port exposure detection for unexpected listeners
• Connection rate limiting (N conns/sec threshold)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926080"/>
            <a:ext cx="5318607" cy="164592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0807" y="3053080"/>
            <a:ext cx="4963007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1E1E2E"/>
                </a:solidFill>
                <a:latin typeface="Calibri"/>
              </a:rPr>
              <a:t>Compliance Rule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807" y="3327400"/>
            <a:ext cx="4963007" cy="11887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 dirty="0">
                <a:solidFill>
                  <a:srgbClr val="1E1E2E"/>
                </a:solidFill>
                <a:latin typeface="Calibri"/>
              </a:rPr>
              <a:t>JSON predicates evaluated against container state:
{ "condition": "ALL </a:t>
            </a:r>
            <a:r>
              <a:rPr sz="1100" b="0" dirty="0" err="1">
                <a:solidFill>
                  <a:srgbClr val="1E1E2E"/>
                </a:solidFill>
                <a:latin typeface="Calibri"/>
              </a:rPr>
              <a:t>proc.user</a:t>
            </a:r>
            <a:r>
              <a:rPr sz="1100" b="0" dirty="0">
                <a:solidFill>
                  <a:srgbClr val="1E1E2E"/>
                </a:solidFill>
                <a:latin typeface="Calibri"/>
              </a:rPr>
              <a:t> != root" }
Evaluated periodically + on matching telemetry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>
                <a:solidFill>
                  <a:srgbClr val="6C6C80"/>
                </a:solidFill>
                <a:latin typeface="Calibri"/>
              </a:rPr>
              <a:t>ContainerGuard  /  COSC 6352 Project Proposal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5. Concurrency / Parallel /
Asynchronous / Distributed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009913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2000" b="0" dirty="0">
                <a:solidFill>
                  <a:srgbClr val="6C6C80"/>
                </a:solidFill>
                <a:latin typeface="Calibri"/>
              </a:rPr>
              <a:t>How do we handle concurrent operations?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3200" b="1">
                <a:solidFill>
                  <a:srgbClr val="1E1E2E"/>
                </a:solidFill>
                <a:latin typeface="Calibri"/>
              </a:rPr>
              <a:t>Agent Concurrency (Single Node)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10911535" cy="4572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7880" y="1143000"/>
            <a:ext cx="10555935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Core: asyncio event loop drives all collectors concurrently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18607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7880" y="1884680"/>
            <a:ext cx="4963007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1E1E2E"/>
                </a:solidFill>
                <a:latin typeface="Calibri"/>
              </a:rPr>
              <a:t>Async Tasks (non-blocking)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7880" y="2148840"/>
            <a:ext cx="4963007" cy="1463040"/>
          </a:xfrm>
          <a:prstGeom prst="rect">
            <a:avLst/>
          </a:prstGeom>
          <a:noFill/>
        </p:spPr>
        <p:txBody>
          <a:bodyPr wrap="square" lIns="50800" tIns="0" rIns="0" bIns="0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 dirty="0">
                <a:solidFill>
                  <a:srgbClr val="1E1E2E"/>
                </a:solidFill>
                <a:latin typeface="Calibri"/>
              </a:rPr>
              <a:t>  </a:t>
            </a:r>
            <a:r>
              <a:rPr sz="1200" b="1" dirty="0" err="1">
                <a:solidFill>
                  <a:srgbClr val="1E1E2E"/>
                </a:solidFill>
                <a:latin typeface="Calibri"/>
              </a:rPr>
              <a:t>ResourceCollector</a:t>
            </a:r>
            <a:r>
              <a:rPr sz="1200" b="0" dirty="0">
                <a:solidFill>
                  <a:srgbClr val="1E1E2E"/>
                </a:solidFill>
                <a:latin typeface="Calibri"/>
              </a:rPr>
              <a:t> =&gt; reads /proc + </a:t>
            </a:r>
            <a:r>
              <a:rPr sz="1200" b="0" dirty="0" err="1">
                <a:solidFill>
                  <a:srgbClr val="1E1E2E"/>
                </a:solidFill>
                <a:latin typeface="Calibri"/>
              </a:rPr>
              <a:t>cgroups</a:t>
            </a:r>
            <a:endParaRPr sz="1200" b="0" dirty="0">
              <a:solidFill>
                <a:srgbClr val="1E1E2E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 dirty="0">
                <a:solidFill>
                  <a:srgbClr val="1E1E2E"/>
                </a:solidFill>
                <a:latin typeface="Calibri"/>
              </a:rPr>
              <a:t>  </a:t>
            </a:r>
            <a:r>
              <a:rPr sz="1200" b="1" dirty="0" err="1">
                <a:solidFill>
                  <a:srgbClr val="1E1E2E"/>
                </a:solidFill>
                <a:latin typeface="Calibri"/>
              </a:rPr>
              <a:t>PortCollector</a:t>
            </a:r>
            <a:r>
              <a:rPr sz="1200" b="0" dirty="0">
                <a:solidFill>
                  <a:srgbClr val="1E1E2E"/>
                </a:solidFill>
                <a:latin typeface="Calibri"/>
              </a:rPr>
              <a:t> =&gt; parses /proc/net/</a:t>
            </a:r>
            <a:r>
              <a:rPr sz="1200" b="0" dirty="0" err="1">
                <a:solidFill>
                  <a:srgbClr val="1E1E2E"/>
                </a:solidFill>
                <a:latin typeface="Calibri"/>
              </a:rPr>
              <a:t>tcp</a:t>
            </a:r>
            <a:endParaRPr sz="1200" b="0" dirty="0">
              <a:solidFill>
                <a:srgbClr val="1E1E2E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 dirty="0">
                <a:solidFill>
                  <a:srgbClr val="1E1E2E"/>
                </a:solidFill>
                <a:latin typeface="Calibri"/>
              </a:rPr>
              <a:t>  </a:t>
            </a:r>
            <a:r>
              <a:rPr sz="1200" b="1" dirty="0" err="1">
                <a:solidFill>
                  <a:srgbClr val="1E1E2E"/>
                </a:solidFill>
                <a:latin typeface="Calibri"/>
              </a:rPr>
              <a:t>ProcessCollector</a:t>
            </a:r>
            <a:r>
              <a:rPr sz="1200" b="0" dirty="0">
                <a:solidFill>
                  <a:srgbClr val="1E1E2E"/>
                </a:solidFill>
                <a:latin typeface="Calibri"/>
              </a:rPr>
              <a:t> =&gt; </a:t>
            </a:r>
            <a:r>
              <a:rPr sz="1200" b="0" dirty="0" err="1">
                <a:solidFill>
                  <a:srgbClr val="1E1E2E"/>
                </a:solidFill>
                <a:latin typeface="Calibri"/>
              </a:rPr>
              <a:t>psutil.process_iter</a:t>
            </a:r>
            <a:r>
              <a:rPr sz="1200" b="0" dirty="0">
                <a:solidFill>
                  <a:srgbClr val="1E1E2E"/>
                </a:solidFill>
                <a:latin typeface="Calibri"/>
              </a:rPr>
              <a:t>()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 dirty="0">
                <a:solidFill>
                  <a:srgbClr val="1E1E2E"/>
                </a:solidFill>
                <a:latin typeface="Calibri"/>
              </a:rPr>
              <a:t>  Batch sender</a:t>
            </a:r>
            <a:r>
              <a:rPr sz="1200" b="0" dirty="0">
                <a:solidFill>
                  <a:srgbClr val="1E1E2E"/>
                </a:solidFill>
                <a:latin typeface="Calibri"/>
              </a:rPr>
              <a:t> =&gt; drains queue every 5s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783080"/>
            <a:ext cx="5318607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0807" y="1884680"/>
            <a:ext cx="4963007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1E1E2E"/>
                </a:solidFill>
                <a:latin typeface="Calibri"/>
              </a:rPr>
              <a:t>Background Threads (blocking I/O)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0807" y="2148840"/>
            <a:ext cx="4963007" cy="640080"/>
          </a:xfrm>
          <a:prstGeom prst="rect">
            <a:avLst/>
          </a:prstGeom>
          <a:noFill/>
        </p:spPr>
        <p:txBody>
          <a:bodyPr wrap="square" lIns="50800" tIns="0" rIns="0" bIns="0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1E1E2E"/>
                </a:solidFill>
                <a:latin typeface="Calibri"/>
              </a:rPr>
              <a:t>  FileCollector</a:t>
            </a:r>
            <a:r>
              <a:rPr sz="1200" b="0">
                <a:solidFill>
                  <a:srgbClr val="1E1E2E"/>
                </a:solidFill>
                <a:latin typeface="Calibri"/>
              </a:rPr>
              <a:t> =&gt; watchdog (inotify) thread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1E1E2E"/>
                </a:solidFill>
                <a:latin typeface="Calibri"/>
              </a:rPr>
              <a:t>  NetworkCollector</a:t>
            </a:r>
            <a:r>
              <a:rPr sz="1200" b="0">
                <a:solidFill>
                  <a:srgbClr val="1E1E2E"/>
                </a:solidFill>
                <a:latin typeface="Calibri"/>
              </a:rPr>
              <a:t> =&gt; raw socket recv() thread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0807" y="2834640"/>
            <a:ext cx="4963007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300" b="1">
                <a:solidFill>
                  <a:srgbClr val="1E1E2E"/>
                </a:solidFill>
                <a:latin typeface="Calibri"/>
              </a:rPr>
              <a:t>Synchronization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0807" y="3108960"/>
            <a:ext cx="4963007" cy="548640"/>
          </a:xfrm>
          <a:prstGeom prst="rect">
            <a:avLst/>
          </a:prstGeom>
          <a:noFill/>
        </p:spPr>
        <p:txBody>
          <a:bodyPr wrap="square" lIns="50800" tIns="0" rIns="0" bIns="0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1E1E2E"/>
                </a:solidFill>
                <a:latin typeface="Calibri"/>
              </a:rPr>
              <a:t>  asyncio.Lock</a:t>
            </a:r>
            <a:r>
              <a:rPr sz="1200" b="0">
                <a:solidFill>
                  <a:srgbClr val="1E1E2E"/>
                </a:solidFill>
                <a:latin typeface="Calibri"/>
              </a:rPr>
              <a:t> =&gt; shared telemetry buffer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1E1E2E"/>
                </a:solidFill>
                <a:latin typeface="Calibri"/>
              </a:rPr>
              <a:t>  asyncio.Queue</a:t>
            </a:r>
            <a:r>
              <a:rPr sz="1200" b="0">
                <a:solidFill>
                  <a:srgbClr val="1E1E2E"/>
                </a:solidFill>
                <a:latin typeface="Calibri"/>
              </a:rPr>
              <a:t> =&gt; thread-to-async bridge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>
                <a:solidFill>
                  <a:srgbClr val="6C6C80"/>
                </a:solidFill>
                <a:latin typeface="Calibri"/>
              </a:rPr>
              <a:t>ContainerGuard  /  COSC 6352 Project Proposal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3200" b="1">
                <a:solidFill>
                  <a:srgbClr val="1E1E2E"/>
                </a:solidFill>
                <a:latin typeface="Calibri"/>
              </a:rPr>
              <a:t>Server &amp; System-Level Concurrency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5318607" cy="228600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7880" y="1198880"/>
            <a:ext cx="4963007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1E1E2E"/>
                </a:solidFill>
                <a:latin typeface="Calibri"/>
              </a:rPr>
              <a:t>Server (Single Node)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7880" y="1463040"/>
            <a:ext cx="4963007" cy="1828800"/>
          </a:xfrm>
          <a:prstGeom prst="rect">
            <a:avLst/>
          </a:prstGeom>
          <a:noFill/>
        </p:spPr>
        <p:txBody>
          <a:bodyPr wrap="square" lIns="50800" tIns="0" rIns="0" bIns="0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 dirty="0">
                <a:solidFill>
                  <a:srgbClr val="1E1E2E"/>
                </a:solidFill>
                <a:latin typeface="Calibri"/>
              </a:rPr>
              <a:t>  </a:t>
            </a:r>
            <a:r>
              <a:rPr sz="1200" b="1" dirty="0" err="1">
                <a:solidFill>
                  <a:srgbClr val="1E1E2E"/>
                </a:solidFill>
                <a:latin typeface="Calibri"/>
              </a:rPr>
              <a:t>FastAPI</a:t>
            </a:r>
            <a:r>
              <a:rPr sz="1200" b="1" dirty="0">
                <a:solidFill>
                  <a:srgbClr val="1E1E2E"/>
                </a:solidFill>
                <a:latin typeface="Calibri"/>
              </a:rPr>
              <a:t> + </a:t>
            </a:r>
            <a:r>
              <a:rPr sz="1200" b="1" dirty="0" err="1">
                <a:solidFill>
                  <a:srgbClr val="1E1E2E"/>
                </a:solidFill>
                <a:latin typeface="Calibri"/>
              </a:rPr>
              <a:t>Uvicorn</a:t>
            </a:r>
            <a:r>
              <a:rPr sz="1200" b="0" dirty="0">
                <a:solidFill>
                  <a:srgbClr val="1E1E2E"/>
                </a:solidFill>
                <a:latin typeface="Calibri"/>
              </a:rPr>
              <a:t> =&gt; async ASGI request handling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 dirty="0">
                <a:solidFill>
                  <a:srgbClr val="1E1E2E"/>
                </a:solidFill>
                <a:latin typeface="Calibri"/>
              </a:rPr>
              <a:t>  </a:t>
            </a:r>
            <a:r>
              <a:rPr sz="1200" b="1" dirty="0" err="1">
                <a:solidFill>
                  <a:srgbClr val="1E1E2E"/>
                </a:solidFill>
                <a:latin typeface="Calibri"/>
              </a:rPr>
              <a:t>Gunicorn</a:t>
            </a:r>
            <a:r>
              <a:rPr sz="1200" b="0" dirty="0">
                <a:solidFill>
                  <a:srgbClr val="1E1E2E"/>
                </a:solidFill>
                <a:latin typeface="Calibri"/>
              </a:rPr>
              <a:t> =&gt; multiple worker processes (1 per core)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 dirty="0">
                <a:solidFill>
                  <a:srgbClr val="1E1E2E"/>
                </a:solidFill>
                <a:latin typeface="Calibri"/>
              </a:rPr>
              <a:t>  </a:t>
            </a:r>
            <a:r>
              <a:rPr sz="1200" b="1" dirty="0" err="1">
                <a:solidFill>
                  <a:srgbClr val="1E1E2E"/>
                </a:solidFill>
                <a:latin typeface="Calibri"/>
              </a:rPr>
              <a:t>asyncio.create_task</a:t>
            </a:r>
            <a:r>
              <a:rPr sz="1200" b="0" dirty="0">
                <a:solidFill>
                  <a:srgbClr val="1E1E2E"/>
                </a:solidFill>
                <a:latin typeface="Calibri"/>
              </a:rPr>
              <a:t> =&gt; background jobs (compliance, scans)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 dirty="0">
                <a:solidFill>
                  <a:srgbClr val="1E1E2E"/>
                </a:solidFill>
                <a:latin typeface="Calibri"/>
              </a:rPr>
              <a:t>  </a:t>
            </a:r>
            <a:r>
              <a:rPr sz="1200" b="1" dirty="0" err="1">
                <a:solidFill>
                  <a:srgbClr val="1E1E2E"/>
                </a:solidFill>
                <a:latin typeface="Calibri"/>
              </a:rPr>
              <a:t>SQLAlchemy</a:t>
            </a:r>
            <a:r>
              <a:rPr sz="1200" b="1" dirty="0">
                <a:solidFill>
                  <a:srgbClr val="1E1E2E"/>
                </a:solidFill>
                <a:latin typeface="Calibri"/>
              </a:rPr>
              <a:t> async pool</a:t>
            </a:r>
            <a:r>
              <a:rPr sz="1200" b="0" dirty="0">
                <a:solidFill>
                  <a:srgbClr val="1E1E2E"/>
                </a:solidFill>
                <a:latin typeface="Calibri"/>
              </a:rPr>
              <a:t> =&gt; connection management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 dirty="0">
                <a:solidFill>
                  <a:srgbClr val="1E1E2E"/>
                </a:solidFill>
                <a:latin typeface="Calibri"/>
              </a:rPr>
              <a:t>  Redis Pub/Sub</a:t>
            </a:r>
            <a:r>
              <a:rPr sz="1200" b="0" dirty="0">
                <a:solidFill>
                  <a:srgbClr val="1E1E2E"/>
                </a:solidFill>
                <a:latin typeface="Calibri"/>
              </a:rPr>
              <a:t> =&gt; decouples ingestion from alerting &amp; WebSocket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097280"/>
            <a:ext cx="5318607" cy="22860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10807" y="1198880"/>
            <a:ext cx="4963007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1E1E2E"/>
                </a:solidFill>
                <a:latin typeface="Calibri"/>
              </a:rPr>
              <a:t>Distributed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0807" y="1463040"/>
            <a:ext cx="4963007" cy="1828800"/>
          </a:xfrm>
          <a:prstGeom prst="rect">
            <a:avLst/>
          </a:prstGeom>
          <a:noFill/>
        </p:spPr>
        <p:txBody>
          <a:bodyPr wrap="square" lIns="50800" tIns="0" rIns="0" bIns="0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 dirty="0">
                <a:solidFill>
                  <a:srgbClr val="1E1E2E"/>
                </a:solidFill>
                <a:latin typeface="Calibri"/>
              </a:rPr>
              <a:t>  Agents are independent</a:t>
            </a:r>
            <a:r>
              <a:rPr sz="1200" b="0" dirty="0">
                <a:solidFill>
                  <a:srgbClr val="1E1E2E"/>
                </a:solidFill>
                <a:latin typeface="Calibri"/>
              </a:rPr>
              <a:t> =&gt; no inter-agent communication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 dirty="0">
                <a:solidFill>
                  <a:srgbClr val="1E1E2E"/>
                </a:solidFill>
                <a:latin typeface="Calibri"/>
              </a:rPr>
              <a:t>  Natural load distribution</a:t>
            </a:r>
            <a:r>
              <a:rPr sz="1200" b="0" dirty="0">
                <a:solidFill>
                  <a:srgbClr val="1E1E2E"/>
                </a:solidFill>
                <a:latin typeface="Calibri"/>
              </a:rPr>
              <a:t> =&gt; each agent handles one container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 dirty="0">
                <a:solidFill>
                  <a:srgbClr val="1E1E2E"/>
                </a:solidFill>
                <a:latin typeface="Calibri"/>
              </a:rPr>
              <a:t>  Server is stateless</a:t>
            </a:r>
            <a:r>
              <a:rPr sz="1200" b="0" dirty="0">
                <a:solidFill>
                  <a:srgbClr val="1E1E2E"/>
                </a:solidFill>
                <a:latin typeface="Calibri"/>
              </a:rPr>
              <a:t> =&gt; all state in PostgreSQL + Redis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 dirty="0">
                <a:solidFill>
                  <a:srgbClr val="1E1E2E"/>
                </a:solidFill>
                <a:latin typeface="Calibri"/>
              </a:rPr>
              <a:t>  Horizontally scalable</a:t>
            </a:r>
            <a:r>
              <a:rPr sz="1200" b="0" dirty="0">
                <a:solidFill>
                  <a:srgbClr val="1E1E2E"/>
                </a:solidFill>
                <a:latin typeface="Calibri"/>
              </a:rPr>
              <a:t> =&gt; add server instances behind a load balancer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 dirty="0">
                <a:solidFill>
                  <a:srgbClr val="1E1E2E"/>
                </a:solidFill>
                <a:latin typeface="Calibri"/>
              </a:rPr>
              <a:t>  Self-scheduling</a:t>
            </a:r>
            <a:r>
              <a:rPr sz="1200" b="0" dirty="0">
                <a:solidFill>
                  <a:srgbClr val="1E1E2E"/>
                </a:solidFill>
                <a:latin typeface="Calibri"/>
              </a:rPr>
              <a:t> =&gt; agents manage their own intervals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>
                <a:solidFill>
                  <a:srgbClr val="6C6C80"/>
                </a:solidFill>
                <a:latin typeface="Calibri"/>
              </a:rPr>
              <a:t>ContainerGuard  /  COSC 6352 Project Proposal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6. 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2000" b="0">
                <a:solidFill>
                  <a:srgbClr val="6C6C80"/>
                </a:solidFill>
                <a:latin typeface="Calibri"/>
              </a:rPr>
              <a:t>How will we build it?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3200" b="1">
                <a:solidFill>
                  <a:srgbClr val="1E1E2E"/>
                </a:solidFill>
                <a:latin typeface="Calibri"/>
              </a:rPr>
              <a:t>Tech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51560"/>
          <a:ext cx="1091153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7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1E2E"/>
                          </a:solidFill>
                          <a:latin typeface="Calibri"/>
                        </a:rPr>
                        <a:t>Python 3.12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Strong systems monitoring ecosystem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Package Manager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1E2E"/>
                          </a:solidFill>
                          <a:latin typeface="Calibri"/>
                        </a:rPr>
                        <a:t>uv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Fast project/package manager, replaces pip + venv + poetry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API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1E2E"/>
                          </a:solidFill>
                          <a:latin typeface="Calibri"/>
                        </a:rPr>
                        <a:t>FastAPI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Async-native, auto OpenAPI docs, WebSocket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Server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1E2E"/>
                          </a:solidFill>
                          <a:latin typeface="Calibri"/>
                        </a:rPr>
                        <a:t>Uvicorn + Gunicorn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Production async ASGI with worker management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ORM / Migrations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1E1E2E"/>
                          </a:solidFill>
                          <a:latin typeface="Calibri"/>
                        </a:rPr>
                        <a:t>SQLAlchemy</a:t>
                      </a:r>
                      <a:r>
                        <a:rPr sz="1200" b="1" dirty="0">
                          <a:solidFill>
                            <a:srgbClr val="1E1E2E"/>
                          </a:solidFill>
                          <a:latin typeface="Calibri"/>
                        </a:rPr>
                        <a:t> 2.0 + Alembic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Async ORM with schema migrations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1E2E"/>
                          </a:solidFill>
                          <a:latin typeface="Calibri"/>
                        </a:rPr>
                        <a:t>PostgreSQL 16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ACID transactions for alerts &amp; compliance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Cache / PubSub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1E2E"/>
                          </a:solidFill>
                          <a:latin typeface="Calibri"/>
                        </a:rPr>
                        <a:t>Redis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Real-time event bus + caching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Metrics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1E2E"/>
                          </a:solidFill>
                          <a:latin typeface="Calibri"/>
                        </a:rPr>
                        <a:t>Prometheus + Grafana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Industry standard metrics pipeline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Vuln Scanner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1E2E"/>
                          </a:solidFill>
                          <a:latin typeface="Calibri"/>
                        </a:rPr>
                        <a:t>Trivy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Open-source, scans images + filesystems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1E2E"/>
                          </a:solidFill>
                          <a:latin typeface="Calibri"/>
                        </a:rPr>
                        <a:t>React + TypeScript + Tailwind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Modern real-time dashboard UI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Monitoring Libs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1E2E"/>
                          </a:solidFill>
                          <a:latin typeface="Calibri"/>
                        </a:rPr>
                        <a:t>psutil, watchdog, scapy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E1E2E"/>
                          </a:solidFill>
                          <a:latin typeface="Calibri"/>
                        </a:rPr>
                        <a:t>CPU/mem, file events, network capture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>
                <a:solidFill>
                  <a:srgbClr val="6C6C80"/>
                </a:solidFill>
                <a:latin typeface="Calibri"/>
              </a:rPr>
              <a:t>ContainerGuard  /  COSC 6352 Project Proposal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3200" b="1">
                <a:solidFill>
                  <a:srgbClr val="1E1E2E"/>
                </a:solidFill>
                <a:latin typeface="Calibri"/>
              </a:rPr>
              <a:t>Project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51560"/>
            <a:ext cx="5318607" cy="438912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7880" y="1178560"/>
            <a:ext cx="4963007" cy="42062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00" b="0" dirty="0">
                <a:solidFill>
                  <a:srgbClr val="1E1E2E"/>
                </a:solidFill>
                <a:latin typeface="Consolas"/>
              </a:rPr>
              <a:t>container-guard/
├── docker-</a:t>
            </a:r>
            <a:r>
              <a:rPr sz="1000" b="0" dirty="0" err="1">
                <a:solidFill>
                  <a:srgbClr val="1E1E2E"/>
                </a:solidFill>
                <a:latin typeface="Consolas"/>
              </a:rPr>
              <a:t>compose.yml</a:t>
            </a:r>
            <a:r>
              <a:rPr sz="1000" b="0" dirty="0">
                <a:solidFill>
                  <a:srgbClr val="1E1E2E"/>
                </a:solidFill>
                <a:latin typeface="Consolas"/>
              </a:rPr>
              <a:t>
│
├── agent/
│   ├── </a:t>
            </a:r>
            <a:r>
              <a:rPr sz="1000" b="0" dirty="0" err="1">
                <a:solidFill>
                  <a:srgbClr val="1E1E2E"/>
                </a:solidFill>
                <a:latin typeface="Consolas"/>
              </a:rPr>
              <a:t>pyproject.toml</a:t>
            </a:r>
            <a:r>
              <a:rPr sz="1000" b="0" dirty="0">
                <a:solidFill>
                  <a:srgbClr val="1E1E2E"/>
                </a:solidFill>
                <a:latin typeface="Consolas"/>
              </a:rPr>
              <a:t>      # </a:t>
            </a:r>
            <a:r>
              <a:rPr sz="1000" b="0" dirty="0" err="1">
                <a:solidFill>
                  <a:srgbClr val="1E1E2E"/>
                </a:solidFill>
                <a:latin typeface="Consolas"/>
              </a:rPr>
              <a:t>uv</a:t>
            </a:r>
            <a:r>
              <a:rPr sz="1000" b="0" dirty="0">
                <a:solidFill>
                  <a:srgbClr val="1E1E2E"/>
                </a:solidFill>
                <a:latin typeface="Consolas"/>
              </a:rPr>
              <a:t> managed
│   └── </a:t>
            </a:r>
            <a:r>
              <a:rPr sz="1000" b="0" dirty="0" err="1">
                <a:solidFill>
                  <a:srgbClr val="1E1E2E"/>
                </a:solidFill>
                <a:latin typeface="Consolas"/>
              </a:rPr>
              <a:t>src</a:t>
            </a:r>
            <a:r>
              <a:rPr sz="1000" b="0" dirty="0">
                <a:solidFill>
                  <a:srgbClr val="1E1E2E"/>
                </a:solidFill>
                <a:latin typeface="Consolas"/>
              </a:rPr>
              <a:t>/
│       ├── </a:t>
            </a:r>
            <a:r>
              <a:rPr sz="1000" b="0" dirty="0" err="1">
                <a:solidFill>
                  <a:srgbClr val="1E1E2E"/>
                </a:solidFill>
                <a:latin typeface="Consolas"/>
              </a:rPr>
              <a:t>main.py</a:t>
            </a:r>
            <a:r>
              <a:rPr sz="1000" b="0" dirty="0">
                <a:solidFill>
                  <a:srgbClr val="1E1E2E"/>
                </a:solidFill>
                <a:latin typeface="Consolas"/>
              </a:rPr>
              <a:t>
│       ├── </a:t>
            </a:r>
            <a:r>
              <a:rPr sz="1000" b="0" dirty="0" err="1">
                <a:solidFill>
                  <a:srgbClr val="1E1E2E"/>
                </a:solidFill>
                <a:latin typeface="Consolas"/>
              </a:rPr>
              <a:t>config.py</a:t>
            </a:r>
            <a:r>
              <a:rPr sz="1000" b="0" dirty="0">
                <a:solidFill>
                  <a:srgbClr val="1E1E2E"/>
                </a:solidFill>
                <a:latin typeface="Consolas"/>
              </a:rPr>
              <a:t>
│       ├── </a:t>
            </a:r>
            <a:r>
              <a:rPr sz="1000" b="0" dirty="0" err="1">
                <a:solidFill>
                  <a:srgbClr val="1E1E2E"/>
                </a:solidFill>
                <a:latin typeface="Consolas"/>
              </a:rPr>
              <a:t>models.py</a:t>
            </a:r>
            <a:r>
              <a:rPr sz="1000" b="0" dirty="0">
                <a:solidFill>
                  <a:srgbClr val="1E1E2E"/>
                </a:solidFill>
                <a:latin typeface="Consolas"/>
              </a:rPr>
              <a:t>
│       ├── collectors/
│       │   ├── </a:t>
            </a:r>
            <a:r>
              <a:rPr sz="1000" b="0" dirty="0" err="1">
                <a:solidFill>
                  <a:srgbClr val="1E1E2E"/>
                </a:solidFill>
                <a:latin typeface="Consolas"/>
              </a:rPr>
              <a:t>network.py</a:t>
            </a:r>
            <a:r>
              <a:rPr sz="1000" b="0" dirty="0">
                <a:solidFill>
                  <a:srgbClr val="1E1E2E"/>
                </a:solidFill>
                <a:latin typeface="Consolas"/>
              </a:rPr>
              <a:t>
│       │   ├── </a:t>
            </a:r>
            <a:r>
              <a:rPr sz="1000" b="0" dirty="0" err="1">
                <a:solidFill>
                  <a:srgbClr val="1E1E2E"/>
                </a:solidFill>
                <a:latin typeface="Consolas"/>
              </a:rPr>
              <a:t>ports.py</a:t>
            </a:r>
            <a:r>
              <a:rPr sz="1000" b="0" dirty="0">
                <a:solidFill>
                  <a:srgbClr val="1E1E2E"/>
                </a:solidFill>
                <a:latin typeface="Consolas"/>
              </a:rPr>
              <a:t>
│       │   ├── </a:t>
            </a:r>
            <a:r>
              <a:rPr sz="1000" b="0" dirty="0" err="1">
                <a:solidFill>
                  <a:srgbClr val="1E1E2E"/>
                </a:solidFill>
                <a:latin typeface="Consolas"/>
              </a:rPr>
              <a:t>filesystem.py</a:t>
            </a:r>
            <a:r>
              <a:rPr sz="1000" b="0" dirty="0">
                <a:solidFill>
                  <a:srgbClr val="1E1E2E"/>
                </a:solidFill>
                <a:latin typeface="Consolas"/>
              </a:rPr>
              <a:t>
│       │   ├── </a:t>
            </a:r>
            <a:r>
              <a:rPr sz="1000" b="0" dirty="0" err="1">
                <a:solidFill>
                  <a:srgbClr val="1E1E2E"/>
                </a:solidFill>
                <a:latin typeface="Consolas"/>
              </a:rPr>
              <a:t>resources.py</a:t>
            </a:r>
            <a:r>
              <a:rPr sz="1000" b="0" dirty="0">
                <a:solidFill>
                  <a:srgbClr val="1E1E2E"/>
                </a:solidFill>
                <a:latin typeface="Consolas"/>
              </a:rPr>
              <a:t>
│       │   └── </a:t>
            </a:r>
            <a:r>
              <a:rPr sz="1000" b="0" dirty="0" err="1">
                <a:solidFill>
                  <a:srgbClr val="1E1E2E"/>
                </a:solidFill>
                <a:latin typeface="Consolas"/>
              </a:rPr>
              <a:t>processes.py</a:t>
            </a:r>
            <a:r>
              <a:rPr sz="1000" b="0" dirty="0">
                <a:solidFill>
                  <a:srgbClr val="1E1E2E"/>
                </a:solidFill>
                <a:latin typeface="Consolas"/>
              </a:rPr>
              <a:t>
│       └── transport/
│           ├── </a:t>
            </a:r>
            <a:r>
              <a:rPr sz="1000" b="0" dirty="0" err="1">
                <a:solidFill>
                  <a:srgbClr val="1E1E2E"/>
                </a:solidFill>
                <a:latin typeface="Consolas"/>
              </a:rPr>
              <a:t>client.py</a:t>
            </a:r>
            <a:r>
              <a:rPr sz="1000" b="0" dirty="0">
                <a:solidFill>
                  <a:srgbClr val="1E1E2E"/>
                </a:solidFill>
                <a:latin typeface="Consolas"/>
              </a:rPr>
              <a:t>
│           └── </a:t>
            </a:r>
            <a:r>
              <a:rPr sz="1000" b="0" dirty="0" err="1">
                <a:solidFill>
                  <a:srgbClr val="1E1E2E"/>
                </a:solidFill>
                <a:latin typeface="Consolas"/>
              </a:rPr>
              <a:t>buffer.py</a:t>
            </a:r>
            <a:endParaRPr sz="1000" b="0" dirty="0">
              <a:solidFill>
                <a:srgbClr val="1E1E2E"/>
              </a:solidFill>
              <a:latin typeface="Consola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33007" y="1051560"/>
            <a:ext cx="5318607" cy="438912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10807" y="1178560"/>
            <a:ext cx="4963007" cy="42062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00" b="0">
                <a:solidFill>
                  <a:srgbClr val="1E1E2E"/>
                </a:solidFill>
                <a:latin typeface="Consolas"/>
              </a:rPr>
              <a:t>server/
├── pyproject.toml        # uv managed
├── alembic/
└── src/
    ├── main.py
    ├── api/          # REST endpoints
    ├── core/         # business logic
    ├── db/           # SQLAlchemy models
    ├── workers/      # background tasks
    └── metrics/      # Prometheus exporter
dashboard/        # React + Tailwind
grafana/          # provisioning configs
prometheus/       # scrape configs
demo/             # sample containers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>
                <a:solidFill>
                  <a:srgbClr val="6C6C80"/>
                </a:solidFill>
                <a:latin typeface="Calibri"/>
              </a:rPr>
              <a:t>ContainerGuard  /  COSC 6352 Project Proposal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3200" b="1">
                <a:solidFill>
                  <a:srgbClr val="1E1E2E"/>
                </a:solidFill>
                <a:latin typeface="Calibri"/>
              </a:rPr>
              <a:t>Milestones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371600" cy="347472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93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Weeks 1-3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143000"/>
            <a:ext cx="9357055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E1E2E"/>
                </a:solidFill>
                <a:latin typeface="Calibri"/>
              </a:rPr>
              <a:t>Foundation</a:t>
            </a:r>
            <a:r>
              <a:rPr sz="1300" b="0">
                <a:solidFill>
                  <a:srgbClr val="6C6C80"/>
                </a:solidFill>
                <a:latin typeface="Calibri"/>
              </a:rPr>
              <a:t>  ·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417320"/>
            <a:ext cx="9357055" cy="7315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444444"/>
                </a:solidFill>
                <a:latin typeface="Calibri"/>
              </a:rPr>
              <a:t>Project scaffolding (uv, Docker Compose) · Agent resource collector (psutil) · Server skeleton with registration &amp; heartbeat · DB schema + Alembic migrations · Basic Prometheus exporter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371600" cy="347472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382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Weeks 4-6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331720"/>
            <a:ext cx="9357055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E1E2E"/>
                </a:solidFill>
                <a:latin typeface="Calibri"/>
              </a:rPr>
              <a:t>Core Monitoring</a:t>
            </a:r>
            <a:r>
              <a:rPr sz="1300" b="0">
                <a:solidFill>
                  <a:srgbClr val="6C6C80"/>
                </a:solidFill>
                <a:latin typeface="Calibri"/>
              </a:rPr>
              <a:t>  ·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606040"/>
            <a:ext cx="9357055" cy="7315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444444"/>
                </a:solidFill>
                <a:latin typeface="Calibri"/>
              </a:rPr>
              <a:t>All agent collectors (network, ports, files, processes) · Telemetry storage &amp; REST APIs · WebSocket broadcast · Dashboard with container list + charts · Grafana dashboards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20440"/>
            <a:ext cx="1371600" cy="347472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571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Weeks 7-9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520440"/>
            <a:ext cx="9357055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E1E2E"/>
                </a:solidFill>
                <a:latin typeface="Calibri"/>
              </a:rPr>
              <a:t>Security Features</a:t>
            </a:r>
            <a:r>
              <a:rPr sz="1300" b="0">
                <a:solidFill>
                  <a:srgbClr val="6C6C80"/>
                </a:solidFill>
                <a:latin typeface="Calibri"/>
              </a:rPr>
              <a:t>  ·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794760"/>
            <a:ext cx="9357055" cy="7315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444444"/>
                </a:solidFill>
                <a:latin typeface="Calibri"/>
              </a:rPr>
              <a:t>Trivy vulnerability scanning · Compliance rule engine · Alert manager + thresholds · Network allowlist/blocklist · Anomaly detection (Z-score)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709160"/>
            <a:ext cx="1371600" cy="347472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759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Weeks 10-12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709160"/>
            <a:ext cx="9357055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E1E2E"/>
                </a:solidFill>
                <a:latin typeface="Calibri"/>
              </a:rPr>
              <a:t>Polish &amp; Demo</a:t>
            </a:r>
            <a:r>
              <a:rPr sz="1300" b="0">
                <a:solidFill>
                  <a:srgbClr val="6C6C80"/>
                </a:solidFill>
                <a:latin typeface="Calibri"/>
              </a:rPr>
              <a:t>  ·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983480"/>
            <a:ext cx="9357055" cy="7315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444444"/>
                </a:solidFill>
                <a:latin typeface="Calibri"/>
              </a:rPr>
              <a:t>Full dashboard UI · Agent offline buffering · Deploy vulnerable demo containers · Load testing · Documentation &amp;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>
                <a:solidFill>
                  <a:srgbClr val="6C6C80"/>
                </a:solidFill>
                <a:latin typeface="Calibri"/>
              </a:rPr>
              <a:t>ContainerGuard  /  COSC 6352 Project Proposal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7. Evaluation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2000" b="0">
                <a:solidFill>
                  <a:srgbClr val="6C6C80"/>
                </a:solidFill>
                <a:latin typeface="Calibri"/>
              </a:rPr>
              <a:t>How will we prove it works?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3200" b="1">
                <a:solidFill>
                  <a:srgbClr val="1E1E2E"/>
                </a:solidFill>
                <a:latin typeface="Calibri"/>
              </a:rPr>
              <a:t>Demo Scenarios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51560"/>
          <a:ext cx="1091153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5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Expected Result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Process writes to /etc/shadow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C2626"/>
                          </a:solidFill>
                          <a:latin typeface="Calibri"/>
                        </a:rPr>
                        <a:t>ALERT within 5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Container binds unexpected port 4444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Dashboard shows port in real-time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CPU spike via stress-ng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C2626"/>
                          </a:solidFill>
                          <a:latin typeface="Calibri"/>
                        </a:rPr>
                        <a:t>Anomaly detection triggers ALERT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Scan nginx:1.14 image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CVE report with severity breakdown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Outbound request to blocked 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C2626"/>
                          </a:solidFill>
                          <a:latin typeface="Calibri"/>
                        </a:rPr>
                        <a:t>ALERT + logged in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Kill agent process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Server marks "unreachable" within 30s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Stop &amp; restart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Agents buffer locally, replay on reconnect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>
                <a:solidFill>
                  <a:srgbClr val="6C6C80"/>
                </a:solidFill>
                <a:latin typeface="Calibri"/>
              </a:rPr>
              <a:t>ContainerGuard  /  COSC 6352 Project Proposal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3200" b="1">
                <a:solidFill>
                  <a:srgbClr val="1E1E2E"/>
                </a:solidFill>
                <a:latin typeface="Calibri"/>
              </a:rPr>
              <a:t>Performance Targets &amp; Testing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2522143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49680"/>
            <a:ext cx="2522143" cy="4114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2800" b="1">
                <a:solidFill>
                  <a:srgbClr val="2563EB"/>
                </a:solidFill>
                <a:latin typeface="Calibri"/>
              </a:rPr>
              <a:t>&lt; 3s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2522143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000" b="0">
                <a:solidFill>
                  <a:srgbClr val="6C6C80"/>
                </a:solidFill>
                <a:latin typeface="Calibri"/>
              </a:rPr>
              <a:t>Telemetry latency
(event =&gt; dashboard)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6543" y="1097280"/>
            <a:ext cx="2522143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36543" y="1249680"/>
            <a:ext cx="2522143" cy="4114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2800" b="1">
                <a:solidFill>
                  <a:srgbClr val="2563EB"/>
                </a:solidFill>
                <a:latin typeface="Calibri"/>
              </a:rPr>
              <a:t>&lt; 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36543" y="1645920"/>
            <a:ext cx="2522143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000" b="0">
                <a:solidFill>
                  <a:srgbClr val="6C6C80"/>
                </a:solidFill>
                <a:latin typeface="Calibri"/>
              </a:rPr>
              <a:t>Agent CPU
overhead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097280"/>
            <a:ext cx="2522143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33007" y="1249680"/>
            <a:ext cx="2522143" cy="4114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2800" b="1">
                <a:solidFill>
                  <a:srgbClr val="2563EB"/>
                </a:solidFill>
                <a:latin typeface="Calibri"/>
              </a:rPr>
              <a:t>&lt; 30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1645920"/>
            <a:ext cx="2522143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000" b="0">
                <a:solidFill>
                  <a:srgbClr val="6C6C80"/>
                </a:solidFill>
                <a:latin typeface="Calibri"/>
              </a:rPr>
              <a:t>Agent memory
footprint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9471" y="1097280"/>
            <a:ext cx="2522143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29471" y="1249680"/>
            <a:ext cx="2522143" cy="4114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2800" b="1">
                <a:solidFill>
                  <a:srgbClr val="2563EB"/>
                </a:solidFill>
                <a:latin typeface="Calibri"/>
              </a:rPr>
              <a:t>50+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9471" y="1645920"/>
            <a:ext cx="2522143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000" b="0">
                <a:solidFill>
                  <a:srgbClr val="6C6C80"/>
                </a:solidFill>
                <a:latin typeface="Calibri"/>
              </a:rPr>
              <a:t>Containers per
server instance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560320"/>
            <a:ext cx="3454298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880" y="2661920"/>
            <a:ext cx="3098698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300" b="1">
                <a:solidFill>
                  <a:srgbClr val="1E1E2E"/>
                </a:solidFill>
                <a:latin typeface="Calibri"/>
              </a:rPr>
              <a:t>Unit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880" y="2926080"/>
            <a:ext cx="3098698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1E1E2E"/>
                </a:solidFill>
                <a:latin typeface="Calibri"/>
              </a:rPr>
              <a:t>Each collector module, compliance engine, alert manager
pytest + pytest-asyncio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8698" y="2560320"/>
            <a:ext cx="3454298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46498" y="2661920"/>
            <a:ext cx="3098698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300" b="1">
                <a:solidFill>
                  <a:srgbClr val="1E1E2E"/>
                </a:solidFill>
                <a:latin typeface="Calibri"/>
              </a:rPr>
              <a:t>Integration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6498" y="2926080"/>
            <a:ext cx="3098698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1E1E2E"/>
                </a:solidFill>
                <a:latin typeface="Calibri"/>
              </a:rPr>
              <a:t>Full Agent =&gt; Server telemetry pipeline end-to-end
httpx + Docker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2560320"/>
            <a:ext cx="3454298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116" y="2661920"/>
            <a:ext cx="3098698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300" b="1">
                <a:solidFill>
                  <a:srgbClr val="1E1E2E"/>
                </a:solidFill>
                <a:latin typeface="Calibri"/>
              </a:rPr>
              <a:t>Fault Injection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116" y="2926080"/>
            <a:ext cx="3098698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1E1E2E"/>
                </a:solidFill>
                <a:latin typeface="Calibri"/>
              </a:rPr>
              <a:t>Kill agents/server, verify recovery, buffering, heartbeat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>
                <a:solidFill>
                  <a:srgbClr val="6C6C80"/>
                </a:solidFill>
                <a:latin typeface="Calibri"/>
              </a:rPr>
              <a:t>ContainerGuard  /  COSC 6352 Project Proposal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8. Challenges &amp; Difficulties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3200" b="1">
                <a:solidFill>
                  <a:srgbClr val="1E1E2E"/>
                </a:solidFill>
                <a:latin typeface="Calibri"/>
              </a:rPr>
              <a:t>Challenges &amp; Mitigations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51560"/>
          <a:ext cx="1091153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9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Race conditions in shared telemetry buffer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asyncio.Lock + asyncio.Queue for thread-to-async bridge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Agent overhead on monitored container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Read /proc directly instead of spawning commands; configurable intervals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Data volume at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5s batching, server-side sampling, PostgreSQL time partitioning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Clock skew across agents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UTC everywhere; server applies receipt timestamp for ordering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Network capture needs privileges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Agent runs with NET_RAW + SYS_PTRACE capabilities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Trivy scan blocking the API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Async subprocess; results streamed via WebSocket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WebSocket fan-out at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2E"/>
                          </a:solidFill>
                          <a:latin typeface="Calibri"/>
                        </a:rPr>
                        <a:t>Redis Pub/Sub as broadcast layer, one coroutine per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>
                <a:solidFill>
                  <a:srgbClr val="6C6C80"/>
                </a:solidFill>
                <a:latin typeface="Calibri"/>
              </a:rPr>
              <a:t>ContainerGuard  /  COSC 6352 Project Proposal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9. Team Roles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3200" b="1">
                <a:solidFill>
                  <a:srgbClr val="1E1E2E"/>
                </a:solidFill>
                <a:latin typeface="Calibri"/>
              </a:rPr>
              <a:t>Team Roles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3454298" cy="2011680"/>
          </a:xfrm>
          <a:prstGeom prst="roundRect">
            <a:avLst>
              <a:gd name="adj" fmla="val 4000"/>
            </a:avLst>
          </a:prstGeom>
          <a:solidFill>
            <a:srgbClr val="EFF4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17880" y="1224280"/>
            <a:ext cx="3098698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1E1E2E"/>
                </a:solidFill>
                <a:latin typeface="Calibri"/>
              </a:rPr>
              <a:t>Agent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7880" y="1498600"/>
            <a:ext cx="3098698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300" b="1">
                <a:solidFill>
                  <a:srgbClr val="444444"/>
                </a:solidFill>
                <a:latin typeface="Calibri"/>
              </a:rPr>
              <a:t>Sanjib 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7880" y="1818640"/>
            <a:ext cx="3098698" cy="10972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 dirty="0">
                <a:solidFill>
                  <a:srgbClr val="1E1E2E"/>
                </a:solidFill>
                <a:latin typeface="Calibri"/>
              </a:rPr>
              <a:t>All collector modules (network, ports, files, resources, processes), transport layer, ring buffer, heartbeat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097280"/>
            <a:ext cx="3454298" cy="201168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46498" y="1224280"/>
            <a:ext cx="3098698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1E1E2E"/>
                </a:solidFill>
                <a:latin typeface="Calibri"/>
              </a:rPr>
              <a:t>Server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6498" y="1498600"/>
            <a:ext cx="3098698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300" b="1">
                <a:solidFill>
                  <a:srgbClr val="444444"/>
                </a:solidFill>
                <a:latin typeface="Calibri"/>
              </a:rPr>
              <a:t>Jackson Saenz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6498" y="1818640"/>
            <a:ext cx="3098698" cy="10972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 dirty="0" err="1">
                <a:solidFill>
                  <a:srgbClr val="1E1E2E"/>
                </a:solidFill>
                <a:latin typeface="Calibri"/>
              </a:rPr>
              <a:t>FastAPI</a:t>
            </a:r>
            <a:r>
              <a:rPr sz="1100" b="0" dirty="0">
                <a:solidFill>
                  <a:srgbClr val="1E1E2E"/>
                </a:solidFill>
                <a:latin typeface="Calibri"/>
              </a:rPr>
              <a:t> endpoints, DB schema, compliance engine, alert manager, </a:t>
            </a:r>
            <a:r>
              <a:rPr sz="1100" b="0" dirty="0" err="1">
                <a:solidFill>
                  <a:srgbClr val="1E1E2E"/>
                </a:solidFill>
                <a:latin typeface="Calibri"/>
              </a:rPr>
              <a:t>Trivy</a:t>
            </a:r>
            <a:r>
              <a:rPr sz="1100" b="0" dirty="0">
                <a:solidFill>
                  <a:srgbClr val="1E1E2E"/>
                </a:solidFill>
                <a:latin typeface="Calibri"/>
              </a:rPr>
              <a:t> integration, Prometheus exporter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1097280"/>
            <a:ext cx="3454298" cy="201168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116" y="1224280"/>
            <a:ext cx="3098698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>
                <a:solidFill>
                  <a:srgbClr val="1E1E2E"/>
                </a:solidFill>
                <a:latin typeface="Calibri"/>
              </a:rPr>
              <a:t>Frontend / DevOps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116" y="1498600"/>
            <a:ext cx="3098698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300" b="1">
                <a:solidFill>
                  <a:srgbClr val="444444"/>
                </a:solidFill>
                <a:latin typeface="Calibri"/>
              </a:rPr>
              <a:t>Ahsan Habib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116" y="1818640"/>
            <a:ext cx="3098698" cy="10972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 dirty="0">
                <a:solidFill>
                  <a:srgbClr val="1E1E2E"/>
                </a:solidFill>
                <a:latin typeface="Calibri"/>
              </a:rPr>
              <a:t>React dashboard, WebSocket integration, Grafana dashboards, Docker Compose, CI/CD, demo scenarios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83280"/>
            <a:ext cx="10911535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880" y="3459480"/>
            <a:ext cx="10555935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300" b="1">
                <a:solidFill>
                  <a:srgbClr val="1E1E2E"/>
                </a:solidFill>
                <a:latin typeface="Calibri"/>
              </a:rPr>
              <a:t>Shared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880" y="3657600"/>
            <a:ext cx="10555935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00" b="0">
                <a:solidFill>
                  <a:srgbClr val="1E1E2E"/>
                </a:solidFill>
                <a:latin typeface="Calibri"/>
              </a:rPr>
              <a:t>Code reviews, testing, documentation,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510528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900" b="0">
                <a:solidFill>
                  <a:srgbClr val="6C6C80"/>
                </a:solidFill>
                <a:latin typeface="Calibri"/>
              </a:rPr>
              <a:t>ContainerGuard  /  COSC 6352 Project Proposal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endParaRPr sz="1200" b="0" dirty="0">
              <a:solidFill>
                <a:srgbClr val="6C6C80"/>
              </a:solidFill>
              <a:latin typeface="Calibri"/>
            </a:endParaRPr>
          </a:p>
        </p:txBody>
      </p:sp>
      <p:pic>
        <p:nvPicPr>
          <p:cNvPr id="1026" name="Picture 2" descr="DateTime">
            <a:extLst>
              <a:ext uri="{FF2B5EF4-FFF2-40B4-BE49-F238E27FC236}">
                <a16:creationId xmlns:a16="http://schemas.microsoft.com/office/drawing/2014/main" id="{7F13963E-634D-06D6-AC9E-1C08559D2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044" y="787400"/>
            <a:ext cx="8623300" cy="607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66658" y="875553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5400" b="1" dirty="0">
                <a:solidFill>
                  <a:srgbClr val="1E1E2E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6658" y="17018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2200" b="0" dirty="0">
                <a:solidFill>
                  <a:srgbClr val="2563EB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1962</Words>
  <Application>Microsoft Macintosh PowerPoint</Application>
  <PresentationFormat>Widescreen</PresentationFormat>
  <Paragraphs>289</Paragraphs>
  <Slides>28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Sen, Sanjib</cp:lastModifiedBy>
  <cp:revision>28</cp:revision>
  <dcterms:created xsi:type="dcterms:W3CDTF">2013-01-27T09:14:16Z</dcterms:created>
  <dcterms:modified xsi:type="dcterms:W3CDTF">2026-02-24T11:26:07Z</dcterms:modified>
  <cp:category/>
</cp:coreProperties>
</file>